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91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3"/>
  <c:chart>
    <c:autoTitleDeleted val="1"/>
    <c:plotArea>
      <c:layout/>
      <c:barChart>
        <c:barDir val="bar"/>
        <c:grouping val="clustered"/>
        <c:varyColors val="1"/>
        <c:ser>
          <c:idx val="0"/>
          <c:order val="0"/>
          <c:tx>
            <c:strRef>
              <c:f>Sheet1!$B$1</c:f>
              <c:strCache>
                <c:ptCount val="1"/>
                <c:pt idx="0">
                  <c:v>Value</c:v>
                </c:pt>
              </c:strCache>
            </c:strRef>
          </c:tx>
          <c:spPr>
            <a:solidFill>
              <a:srgbClr val="13A86B"/>
            </a:solidFill>
            <a:ln>
              <a:noFill/>
            </a:ln>
          </c:spPr>
          <c:invertIfNegative val="1"/>
          <c:dLbls>
            <c:numFmt formatCode="0" sourceLinked="0"/>
            <c:spPr>
              <a:noFill/>
              <a:ln>
                <a:noFill/>
              </a:ln>
              <a:effectLst/>
            </c:spPr>
            <c:txPr>
              <a:bodyPr/>
              <a:lstStyle/>
              <a:p>
                <a:pPr>
                  <a:defRPr sz="13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Approved</c:v>
                </c:pt>
                <c:pt idx="1">
                  <c:v>Rejected</c:v>
                </c:pt>
                <c:pt idx="2">
                  <c:v>Withdrawn</c:v>
                </c:pt>
                <c:pt idx="3">
                  <c:v>Pending</c:v>
                </c:pt>
              </c:strCache>
            </c:strRef>
          </c:cat>
          <c:val>
            <c:numRef>
              <c:f>Sheet1!$B$2:$B$5</c:f>
              <c:numCache>
                <c:formatCode>General</c:formatCode>
                <c:ptCount val="4"/>
                <c:pt idx="0">
                  <c:v>1004</c:v>
                </c:pt>
                <c:pt idx="1">
                  <c:v>394</c:v>
                </c:pt>
                <c:pt idx="2">
                  <c:v>95</c:v>
                </c:pt>
                <c:pt idx="3">
                  <c:v>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95F-4040-8FB2-1D3453B49A49}"/>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1300">
                <a:latin typeface="Aptos"/>
              </a:defRPr>
            </a:pPr>
            <a:endParaRPr lang="en-US"/>
          </a:p>
        </c:txPr>
        <c:crossAx val="-2113994440"/>
        <c:crosses val="autoZero"/>
        <c:auto val="1"/>
        <c:lblAlgn val="ctr"/>
        <c:lblOffset val="100"/>
        <c:noMultiLvlLbl val="0"/>
      </c:catAx>
      <c:valAx>
        <c:axId val="-2113994440"/>
        <c:scaling>
          <c:orientation val="minMax"/>
          <c:min val="0"/>
        </c:scaling>
        <c:delete val="0"/>
        <c:axPos val="t"/>
        <c:numFmt formatCode="0" sourceLinked="0"/>
        <c:majorTickMark val="out"/>
        <c:minorTickMark val="none"/>
        <c:tickLblPos val="nextTo"/>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3"/>
  <c:chart>
    <c:autoTitleDeleted val="1"/>
    <c:plotArea>
      <c:layout/>
      <c:barChart>
        <c:barDir val="bar"/>
        <c:grouping val="clustered"/>
        <c:varyColors val="1"/>
        <c:ser>
          <c:idx val="0"/>
          <c:order val="0"/>
          <c:tx>
            <c:strRef>
              <c:f>Sheet1!$B$1</c:f>
              <c:strCache>
                <c:ptCount val="1"/>
                <c:pt idx="0">
                  <c:v>Value</c:v>
                </c:pt>
              </c:strCache>
            </c:strRef>
          </c:tx>
          <c:spPr>
            <a:solidFill>
              <a:srgbClr val="1479B8"/>
            </a:solidFill>
            <a:ln>
              <a:noFill/>
            </a:ln>
          </c:spPr>
          <c:invertIfNegative val="1"/>
          <c:dLbls>
            <c:numFmt formatCode="0.00" sourceLinked="0"/>
            <c:spPr>
              <a:noFill/>
              <a:ln>
                <a:noFill/>
              </a:ln>
              <a:effectLst/>
            </c:spPr>
            <c:txPr>
              <a:bodyPr/>
              <a:lstStyle/>
              <a:p>
                <a:pPr>
                  <a:defRPr sz="13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Credit Assessment</c:v>
                </c:pt>
                <c:pt idx="1">
                  <c:v>Documentation</c:v>
                </c:pt>
                <c:pt idx="2">
                  <c:v>Risk Review</c:v>
                </c:pt>
                <c:pt idx="3">
                  <c:v>Initial Screening</c:v>
                </c:pt>
                <c:pt idx="4">
                  <c:v>Approval Committee</c:v>
                </c:pt>
                <c:pt idx="5">
                  <c:v>Disbursement</c:v>
                </c:pt>
                <c:pt idx="6">
                  <c:v>Application Received</c:v>
                </c:pt>
              </c:strCache>
            </c:strRef>
          </c:cat>
          <c:val>
            <c:numRef>
              <c:f>Sheet1!$B$2:$B$8</c:f>
              <c:numCache>
                <c:formatCode>General</c:formatCode>
                <c:ptCount val="7"/>
                <c:pt idx="0">
                  <c:v>4.45</c:v>
                </c:pt>
                <c:pt idx="1">
                  <c:v>3.53</c:v>
                </c:pt>
                <c:pt idx="2">
                  <c:v>2.56</c:v>
                </c:pt>
                <c:pt idx="3">
                  <c:v>2</c:v>
                </c:pt>
                <c:pt idx="4">
                  <c:v>1.97</c:v>
                </c:pt>
                <c:pt idx="5">
                  <c:v>1.48</c:v>
                </c:pt>
                <c:pt idx="6">
                  <c:v>0.52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751C-4A85-A004-7AFBBCE6E65E}"/>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1300">
                <a:latin typeface="Aptos"/>
              </a:defRPr>
            </a:pPr>
            <a:endParaRPr lang="en-US"/>
          </a:p>
        </c:txPr>
        <c:crossAx val="-2113994440"/>
        <c:crosses val="autoZero"/>
        <c:auto val="1"/>
        <c:lblAlgn val="ctr"/>
        <c:lblOffset val="100"/>
        <c:noMultiLvlLbl val="0"/>
      </c:catAx>
      <c:valAx>
        <c:axId val="-2113994440"/>
        <c:scaling>
          <c:orientation val="minMax"/>
          <c:min val="0"/>
        </c:scaling>
        <c:delete val="0"/>
        <c:axPos val="t"/>
        <c:numFmt formatCode="0.00" sourceLinked="0"/>
        <c:majorTickMark val="out"/>
        <c:minorTickMark val="none"/>
        <c:tickLblPos val="nextTo"/>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3"/>
  <c:chart>
    <c:autoTitleDeleted val="1"/>
    <c:plotArea>
      <c:layout/>
      <c:barChart>
        <c:barDir val="bar"/>
        <c:grouping val="clustered"/>
        <c:varyColors val="1"/>
        <c:ser>
          <c:idx val="0"/>
          <c:order val="0"/>
          <c:tx>
            <c:strRef>
              <c:f>Sheet1!$B$1</c:f>
              <c:strCache>
                <c:ptCount val="1"/>
                <c:pt idx="0">
                  <c:v>Value</c:v>
                </c:pt>
              </c:strCache>
            </c:strRef>
          </c:tx>
          <c:spPr>
            <a:solidFill>
              <a:srgbClr val="F3A51B"/>
            </a:solidFill>
            <a:ln>
              <a:noFill/>
            </a:ln>
          </c:spPr>
          <c:invertIfNegative val="1"/>
          <c:dLbls>
            <c:numFmt formatCode="0.0" sourceLinked="0"/>
            <c:spPr>
              <a:noFill/>
              <a:ln>
                <a:noFill/>
              </a:ln>
              <a:effectLst/>
            </c:spPr>
            <c:txPr>
              <a:bodyPr/>
              <a:lstStyle/>
              <a:p>
                <a:pPr>
                  <a:defRPr sz="13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Current</c:v>
                </c:pt>
                <c:pt idx="1">
                  <c:v>1–30</c:v>
                </c:pt>
                <c:pt idx="2">
                  <c:v>31–60</c:v>
                </c:pt>
                <c:pt idx="3">
                  <c:v>61–90</c:v>
                </c:pt>
                <c:pt idx="4">
                  <c:v>90+</c:v>
                </c:pt>
              </c:strCache>
            </c:strRef>
          </c:cat>
          <c:val>
            <c:numRef>
              <c:f>Sheet1!$B$2:$B$6</c:f>
              <c:numCache>
                <c:formatCode>General</c:formatCode>
                <c:ptCount val="5"/>
                <c:pt idx="0">
                  <c:v>345.7</c:v>
                </c:pt>
                <c:pt idx="1">
                  <c:v>410.2</c:v>
                </c:pt>
                <c:pt idx="2">
                  <c:v>406.8</c:v>
                </c:pt>
                <c:pt idx="3">
                  <c:v>99.8</c:v>
                </c:pt>
                <c:pt idx="4">
                  <c:v>78.7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FAD2-442A-8060-D5764B613913}"/>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1300">
                <a:latin typeface="Aptos"/>
              </a:defRPr>
            </a:pPr>
            <a:endParaRPr lang="en-US"/>
          </a:p>
        </c:txPr>
        <c:crossAx val="-2113994440"/>
        <c:crosses val="autoZero"/>
        <c:auto val="1"/>
        <c:lblAlgn val="ctr"/>
        <c:lblOffset val="100"/>
        <c:noMultiLvlLbl val="0"/>
      </c:catAx>
      <c:valAx>
        <c:axId val="-2113994440"/>
        <c:scaling>
          <c:orientation val="minMax"/>
          <c:min val="0"/>
        </c:scaling>
        <c:delete val="0"/>
        <c:axPos val="t"/>
        <c:numFmt formatCode="0.0" sourceLinked="0"/>
        <c:majorTickMark val="out"/>
        <c:minorTickMark val="none"/>
        <c:tickLblPos val="nextTo"/>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3"/>
  <c:chart>
    <c:autoTitleDeleted val="1"/>
    <c:plotArea>
      <c:layout/>
      <c:barChart>
        <c:barDir val="bar"/>
        <c:grouping val="clustered"/>
        <c:varyColors val="1"/>
        <c:ser>
          <c:idx val="0"/>
          <c:order val="0"/>
          <c:tx>
            <c:strRef>
              <c:f>Sheet1!$B$1</c:f>
              <c:strCache>
                <c:ptCount val="1"/>
                <c:pt idx="0">
                  <c:v>Value</c:v>
                </c:pt>
              </c:strCache>
            </c:strRef>
          </c:tx>
          <c:spPr>
            <a:solidFill>
              <a:srgbClr val="00A6A6"/>
            </a:solidFill>
            <a:ln>
              <a:noFill/>
            </a:ln>
          </c:spPr>
          <c:invertIfNegative val="1"/>
          <c:dLbls>
            <c:numFmt formatCode="0.0" sourceLinked="0"/>
            <c:spPr>
              <a:noFill/>
              <a:ln>
                <a:noFill/>
              </a:ln>
              <a:effectLst/>
            </c:spPr>
            <c:txPr>
              <a:bodyPr/>
              <a:lstStyle/>
              <a:p>
                <a:pPr>
                  <a:defRPr sz="13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Retail</c:v>
                </c:pt>
                <c:pt idx="1">
                  <c:v>Services</c:v>
                </c:pt>
              </c:strCache>
            </c:strRef>
          </c:cat>
          <c:val>
            <c:numRef>
              <c:f>Sheet1!$B$2:$B$3</c:f>
              <c:numCache>
                <c:formatCode>General</c:formatCode>
                <c:ptCount val="2"/>
                <c:pt idx="0">
                  <c:v>318.8</c:v>
                </c:pt>
                <c:pt idx="1">
                  <c:v>295.8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CC61-4220-A431-17A8925E4E1C}"/>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1300">
                <a:latin typeface="Aptos"/>
              </a:defRPr>
            </a:pPr>
            <a:endParaRPr lang="en-US"/>
          </a:p>
        </c:txPr>
        <c:crossAx val="-2113994440"/>
        <c:crosses val="autoZero"/>
        <c:auto val="1"/>
        <c:lblAlgn val="ctr"/>
        <c:lblOffset val="100"/>
        <c:noMultiLvlLbl val="0"/>
      </c:catAx>
      <c:valAx>
        <c:axId val="-2113994440"/>
        <c:scaling>
          <c:orientation val="minMax"/>
          <c:min val="0"/>
        </c:scaling>
        <c:delete val="0"/>
        <c:axPos val="t"/>
        <c:numFmt formatCode="0.0" sourceLinked="0"/>
        <c:majorTickMark val="out"/>
        <c:minorTickMark val="none"/>
        <c:tickLblPos val="nextTo"/>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6748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my Credit-SME Loan Application and Portfolio Analytics project. It uses synthetic lending data, so the results demonstrate an analytical workflow rather than a real institution’s performance. I built the workflow around the full lending journey: applications, processing, disbursement and repayment risk. The presentation shows how PostgreSQL provides a reliable foundation, how R supports exploration and statistical reasoning, and how Shiny turns the analysis into management reporting. The emphasis is both technical delivery and careful business interpretation. Predictive credit scoring is a future extension rather than the main outcome of this project.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Imagine a credit management meeting where application volumes, delays and exposure are stored in separate tables. A total application count alone does not explain decision outcomes, and disbursement does not show current risk. The business problem is to bring these measures together with consistent definitions. This project addresses visibility across demand, approvals, stage delays, outstanding exposure and delinquency. Branch and sector views make the information more useful because portfolio averages can hide local differences. The dashboard supports questions and investigation; it does not automatically explain causes or prescribe lending policy.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workflow begins with synthetic lending records and places them in PostgreSQL. Validation comes before KPI calculations because an incorrect join or inconsistent record can distort a management result. SQL defines reusable measures, while R supports visual exploration and statistical questions. Shiny then presents the measures through filters, charts and tables. The original workflow diagram is shown above; the detailed stages below describe the same process. This separation of responsibilities is useful for reproducibility and maintenance: the database provides relational logic, R provides analytical flexibility, and the dashboard provides accessible decision support.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links customers to applications, applications to processing-stage events and loans, and loans to repayment installments. Branches provide an operational dimension. Each table has a different grain, which is central to the correctness of the analysis. A loan can have many repayments. If its outstanding balance is summed after a direct join to those installments, the balance can be counted multiple times. Loan-level exposure therefore needs loan-grain calculations or appropriately aggregated repayment results. The row counts shown here are reported counts, not estimates. This design discipline connects database engineering directly to the credibility of portfolio reporting.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validation covered uniqueness, completeness, valid financial values and cross-table consistency. The report records no duplicate customer or application IDs, no missing core customer fields, no negative balances and no rejected applications with loans. One exception is particularly useful: nine approved applications did not have a loan. That is a review flag, not proof of an error, because approval and disbursement are different events. The SQL techniques listed below supported KPI calculation and operational monitoring, including rolling comparisons and latest-stage identification. These checks help distinguish data errors from legitimate business states before a result reaches management.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six headline metrics from the report. Approval rate uses only approved and rejected applications in its denominator; it is not the approved share of all applications. Median turnaround time is fifteen days. Disbursement is the total value of originated facilities, while active outstanding is the remaining balance on loans not marked Closed. PAR30 is exposure-weighted under the project definition, so it should not be read as a percentage of loan accounts. All values describe the synthetic portfolio and do not establish a banking benchmark. Consistent definitions are what make these measures comparable across SQL, R and Shiny.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chart shows the full application status mix, including withdrawn and pending records. There are 1,004 approvals and 394 rejections, producing a 71.8 percent approval rate among decided applications. That differs from the 66.93 percent approved share of all 1,500 applications. The right panel adds two concentration observations: Gulshan has the highest branch application volume, and Retail the highest sector volume. These describe demand, not superior performance. We would need capacity, mix and benchmark information to evaluate whether a volume or approval rate is desirable. Monthly values are not reconstructed because the available screenshot does not show complete axis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branch boxplots show both typical decision time and variation. Gulshan has the highest reported median at sixteen days, while most branches are around fourteen to fifteen days. The stage chart identifies Credit Assessment as the longest average stage, at 4.45 days, followed by Documentation at 3.53 days. This makes Credit Assessment a logical first area for investigation, but it does not establish inefficiency. A longer stage could reflect required review depth or case complexity. The next analysis should examine workload, queues and branch-level delays, using distributions and percentiles as well as averages. Stage durations should not simply be added to infer end-to-end TAT.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headline measures are exposure-weighted PAR30 and PAR90 for the active portfolio. The chart shows outstanding balances in the report’s displayed DPD buckets. These balances sum to approximately BDT 1.341 billion after rounding. The larger PAR30 relative to PAR90 suggests a need to monitor whether earlier delinquency cures or progresses, but a single snapshot cannot establish migration. An important definition detail is that project PAR30 uses DPD greater than or equal to thirty, while the displayed bands are labelled one to thirty and thirty-one to sixty. PAR90 has a similar boundary issue. Therefore the chart is not used to recompute the headline PAR values.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original R chart presents sector PAR30 across all sectors. Food and Beverage is highest at approximately 73.2 percent, followed by Wholesale at 61.7 percent. The exposure panel is intentionally limited to the two largest reported sectors: Retail at BDT 318.8 million and Services at BDT 295.8 million. It is not a complete sector exposure ranking. Retail illustrates the distinction well: it has the largest exposure but a PAR30 of approximately 43.7 percent. Management should examine both rate and financial weight, and then investigate borrower concentration. A high sector rate alone does not justify labelling a sector bad or changing credit policy.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 original R plots investigate borrower financial characteristics. The revenue plot shows a strong positive association with requested loan size, with Pearson correlation around 0.822. The debt-to-revenue plot shows distributions for approved and rejected applications. Their mean ratios are 27.5 and 32.4 percent respectively, and the Welch test detects a difference with p below 0.001. These are associations in synthetic data. The sector decision chi-square test, in contrast, has p around 0.415 and does not provide strong overall evidence of association. The tests are primarily univariate, and repeated applications may weaken independence assumptions. The logistic regression is only an exploratory preview, without predictive validation.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actual Shiny application from the project report. The main screenshot shows the six headline KPI cards, with application charts beneath them. The smaller filter panel comes from the Applications page and confirms the branch and business-sector controls. Those global selections feed reactive datasets, which recalculate KPIs and update charts and tables. The four pages cover the executive overview, applications, processing and turnaround time, and portfolio risk. The screenshots are static evidence of the product; the report also describes a recording demonstrating changing results when a filter is selected. The dashboard is useful because managers can investigate a segment without manually rerunning the R script.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recommendations follow directly from the evidence. For the longest processing stage, the action is to investigate workload and queues rather than assume the team is inefficient. For the gap between PAR30 and PAR90, the next step is migration analysis to see which loans cure and which deteriorate. For sector differences, compare delinquency rates with exposure and borrower concentration before drawing policy conclusions. Finally, use branch and sector drill-downs to supplement portfolio-wide averages. These are monitoring and investigation priorities, not causal findings. They also show how the project can evolve toward early warning while retaining clear KPI definitions and transparent assumptions.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value of this project is the connection between its parts. Relational modeling and quality checks make the data trustworthy. SQL and R turn those records into metrics and evidence. Credit-domain definitions help explain what exposure, turnaround time and delinquency actually mean. Shiny makes the results accessible through a usable reporting product. The work demonstrates a foundation for a junior data scientist or credit analytics role, including responsible communication of limitations. A future extension would build a validated default-prediction workflow with a defined target, logistic regression, probability of default, scorecard concepts and model monitoring. Those capabilities remain planned; this deck does not claim a production scoring model.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endParaRP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endParaRP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Portfolio demonstration | October 2026</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01</a:t>
            </a:r>
          </a:p>
        </p:txBody>
      </p:sp>
      <p:sp>
        <p:nvSpPr>
          <p:cNvPr id="8" name="Rectangle 7"/>
          <p:cNvSpPr/>
          <p:nvPr/>
        </p:nvSpPr>
        <p:spPr>
          <a:xfrm>
            <a:off x="8641080" y="0"/>
            <a:ext cx="355061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1097280"/>
            <a:ext cx="7315200" cy="365760"/>
          </a:xfrm>
          <a:prstGeom prst="rect">
            <a:avLst/>
          </a:prstGeom>
          <a:noFill/>
        </p:spPr>
        <p:txBody>
          <a:bodyPr wrap="square" lIns="0" tIns="0" rIns="0" bIns="0">
            <a:spAutoFit/>
          </a:bodyPr>
          <a:lstStyle/>
          <a:p>
            <a:pPr>
              <a:spcAft>
                <a:spcPts val="800"/>
              </a:spcAft>
              <a:defRPr sz="1400" b="1">
                <a:solidFill>
                  <a:srgbClr val="00A6A6"/>
                </a:solidFill>
                <a:latin typeface="Aptos"/>
              </a:defRPr>
            </a:pPr>
            <a:r>
              <a:t>PORTFOLIO PROJECT</a:t>
            </a:r>
          </a:p>
        </p:txBody>
      </p:sp>
      <p:sp>
        <p:nvSpPr>
          <p:cNvPr id="10" name="TextBox 9"/>
          <p:cNvSpPr txBox="1"/>
          <p:nvPr/>
        </p:nvSpPr>
        <p:spPr>
          <a:xfrm>
            <a:off x="713232" y="1828800"/>
            <a:ext cx="7818120" cy="1417320"/>
          </a:xfrm>
          <a:prstGeom prst="rect">
            <a:avLst/>
          </a:prstGeom>
          <a:noFill/>
        </p:spPr>
        <p:txBody>
          <a:bodyPr wrap="square" lIns="0" tIns="0" rIns="0" bIns="0">
            <a:spAutoFit/>
          </a:bodyPr>
          <a:lstStyle/>
          <a:p>
            <a:pPr>
              <a:spcAft>
                <a:spcPts val="800"/>
              </a:spcAft>
              <a:defRPr sz="3400" b="1">
                <a:solidFill>
                  <a:srgbClr val="0B1F3A"/>
                </a:solidFill>
                <a:latin typeface="Aptos"/>
              </a:defRPr>
            </a:pPr>
            <a:r>
              <a:t>Credit-SME Loan Application</a:t>
            </a:r>
          </a:p>
          <a:p>
            <a:pPr>
              <a:spcAft>
                <a:spcPts val="800"/>
              </a:spcAft>
              <a:defRPr sz="3400" b="1">
                <a:solidFill>
                  <a:srgbClr val="0B1F3A"/>
                </a:solidFill>
                <a:latin typeface="Aptos"/>
              </a:defRPr>
            </a:pPr>
            <a:r>
              <a:t>&amp; Portfolio Analytics</a:t>
            </a:r>
          </a:p>
        </p:txBody>
      </p:sp>
      <p:sp>
        <p:nvSpPr>
          <p:cNvPr id="11" name="TextBox 10"/>
          <p:cNvSpPr txBox="1"/>
          <p:nvPr/>
        </p:nvSpPr>
        <p:spPr>
          <a:xfrm>
            <a:off x="713232" y="3566160"/>
            <a:ext cx="7315200" cy="914400"/>
          </a:xfrm>
          <a:prstGeom prst="rect">
            <a:avLst/>
          </a:prstGeom>
          <a:noFill/>
        </p:spPr>
        <p:txBody>
          <a:bodyPr wrap="square" lIns="0" tIns="0" rIns="0" bIns="0">
            <a:spAutoFit/>
          </a:bodyPr>
          <a:lstStyle/>
          <a:p>
            <a:pPr>
              <a:spcAft>
                <a:spcPts val="800"/>
              </a:spcAft>
              <a:defRPr sz="2300" b="0">
                <a:solidFill>
                  <a:srgbClr val="1479B8"/>
                </a:solidFill>
                <a:latin typeface="Aptos"/>
              </a:defRPr>
            </a:pPr>
            <a:r>
              <a:t>End-to-End Analytics using</a:t>
            </a:r>
          </a:p>
          <a:p>
            <a:pPr>
              <a:spcAft>
                <a:spcPts val="800"/>
              </a:spcAft>
              <a:defRPr sz="2300" b="0">
                <a:solidFill>
                  <a:srgbClr val="1479B8"/>
                </a:solidFill>
                <a:latin typeface="Aptos"/>
              </a:defRPr>
            </a:pPr>
            <a:r>
              <a:t>PostgreSQL, R &amp; R Shiny</a:t>
            </a:r>
          </a:p>
        </p:txBody>
      </p:sp>
      <p:sp>
        <p:nvSpPr>
          <p:cNvPr id="12" name="TextBox 11"/>
          <p:cNvSpPr txBox="1"/>
          <p:nvPr/>
        </p:nvSpPr>
        <p:spPr>
          <a:xfrm>
            <a:off x="713232" y="4709160"/>
            <a:ext cx="7315200" cy="640080"/>
          </a:xfrm>
          <a:prstGeom prst="rect">
            <a:avLst/>
          </a:prstGeom>
          <a:noFill/>
        </p:spPr>
        <p:txBody>
          <a:bodyPr wrap="square" lIns="0" tIns="0" rIns="0" bIns="0">
            <a:spAutoFit/>
          </a:bodyPr>
          <a:lstStyle/>
          <a:p>
            <a:pPr>
              <a:spcAft>
                <a:spcPts val="800"/>
              </a:spcAft>
              <a:defRPr sz="1900" b="0">
                <a:solidFill>
                  <a:srgbClr val="64748B"/>
                </a:solidFill>
                <a:latin typeface="Aptos"/>
              </a:defRPr>
            </a:pPr>
            <a:r>
              <a:t>From raw lending data to management-level credit insights.</a:t>
            </a:r>
          </a:p>
        </p:txBody>
      </p:sp>
      <p:sp>
        <p:nvSpPr>
          <p:cNvPr id="13" name="TextBox 12"/>
          <p:cNvSpPr txBox="1"/>
          <p:nvPr/>
        </p:nvSpPr>
        <p:spPr>
          <a:xfrm>
            <a:off x="713232" y="5760720"/>
            <a:ext cx="7315200" cy="246221"/>
          </a:xfrm>
          <a:prstGeom prst="rect">
            <a:avLst/>
          </a:prstGeom>
          <a:noFill/>
        </p:spPr>
        <p:txBody>
          <a:bodyPr wrap="square" lIns="0" tIns="0" rIns="0" bIns="0">
            <a:spAutoFit/>
          </a:bodyPr>
          <a:lstStyle/>
          <a:p>
            <a:pPr>
              <a:spcAft>
                <a:spcPts val="800"/>
              </a:spcAft>
              <a:defRPr sz="1600" b="1">
                <a:solidFill>
                  <a:srgbClr val="0B1F3A"/>
                </a:solidFill>
                <a:latin typeface="Aptos"/>
              </a:defRPr>
            </a:pPr>
            <a:r>
              <a:rPr dirty="0"/>
              <a:t>[</a:t>
            </a:r>
            <a:r>
              <a:rPr lang="en-US" dirty="0"/>
              <a:t>Md. Maidul Hassan Shanto</a:t>
            </a:r>
            <a:r>
              <a:rPr dirty="0"/>
              <a:t>]</a:t>
            </a:r>
          </a:p>
        </p:txBody>
      </p:sp>
      <p:sp>
        <p:nvSpPr>
          <p:cNvPr id="14" name="TextBox 13"/>
          <p:cNvSpPr txBox="1"/>
          <p:nvPr/>
        </p:nvSpPr>
        <p:spPr>
          <a:xfrm>
            <a:off x="9006840" y="1737360"/>
            <a:ext cx="2743200" cy="457200"/>
          </a:xfrm>
          <a:prstGeom prst="rect">
            <a:avLst/>
          </a:prstGeom>
          <a:noFill/>
        </p:spPr>
        <p:txBody>
          <a:bodyPr wrap="square" lIns="0" tIns="0" rIns="0" bIns="0">
            <a:spAutoFit/>
          </a:bodyPr>
          <a:lstStyle/>
          <a:p>
            <a:pPr>
              <a:spcAft>
                <a:spcPts val="800"/>
              </a:spcAft>
              <a:defRPr sz="2600" b="1">
                <a:solidFill>
                  <a:srgbClr val="FFFFFF"/>
                </a:solidFill>
                <a:latin typeface="Aptos"/>
              </a:defRPr>
            </a:pPr>
            <a:r>
              <a:t>SQL</a:t>
            </a:r>
          </a:p>
        </p:txBody>
      </p:sp>
      <p:sp>
        <p:nvSpPr>
          <p:cNvPr id="15" name="TextBox 14"/>
          <p:cNvSpPr txBox="1"/>
          <p:nvPr/>
        </p:nvSpPr>
        <p:spPr>
          <a:xfrm>
            <a:off x="9006840" y="2267712"/>
            <a:ext cx="2743200" cy="365760"/>
          </a:xfrm>
          <a:prstGeom prst="rect">
            <a:avLst/>
          </a:prstGeom>
          <a:noFill/>
        </p:spPr>
        <p:txBody>
          <a:bodyPr wrap="square" lIns="0" tIns="0" rIns="0" bIns="0">
            <a:spAutoFit/>
          </a:bodyPr>
          <a:lstStyle/>
          <a:p>
            <a:pPr>
              <a:spcAft>
                <a:spcPts val="800"/>
              </a:spcAft>
              <a:defRPr sz="1500" b="0">
                <a:solidFill>
                  <a:srgbClr val="B8D8E8"/>
                </a:solidFill>
                <a:latin typeface="Aptos"/>
              </a:defRPr>
            </a:pPr>
            <a:r>
              <a:t>Reliable metrics</a:t>
            </a:r>
          </a:p>
        </p:txBody>
      </p:sp>
      <p:sp>
        <p:nvSpPr>
          <p:cNvPr id="16" name="TextBox 15"/>
          <p:cNvSpPr txBox="1"/>
          <p:nvPr/>
        </p:nvSpPr>
        <p:spPr>
          <a:xfrm>
            <a:off x="9006840" y="2971800"/>
            <a:ext cx="2743200" cy="457200"/>
          </a:xfrm>
          <a:prstGeom prst="rect">
            <a:avLst/>
          </a:prstGeom>
          <a:noFill/>
        </p:spPr>
        <p:txBody>
          <a:bodyPr wrap="square" lIns="0" tIns="0" rIns="0" bIns="0">
            <a:spAutoFit/>
          </a:bodyPr>
          <a:lstStyle/>
          <a:p>
            <a:pPr>
              <a:spcAft>
                <a:spcPts val="800"/>
              </a:spcAft>
              <a:defRPr sz="2600" b="1">
                <a:solidFill>
                  <a:srgbClr val="FFFFFF"/>
                </a:solidFill>
                <a:latin typeface="Aptos"/>
              </a:defRPr>
            </a:pPr>
            <a:r>
              <a:t>R</a:t>
            </a:r>
          </a:p>
        </p:txBody>
      </p:sp>
      <p:sp>
        <p:nvSpPr>
          <p:cNvPr id="17" name="TextBox 16"/>
          <p:cNvSpPr txBox="1"/>
          <p:nvPr/>
        </p:nvSpPr>
        <p:spPr>
          <a:xfrm>
            <a:off x="9006840" y="3502152"/>
            <a:ext cx="2743200" cy="365760"/>
          </a:xfrm>
          <a:prstGeom prst="rect">
            <a:avLst/>
          </a:prstGeom>
          <a:noFill/>
        </p:spPr>
        <p:txBody>
          <a:bodyPr wrap="square" lIns="0" tIns="0" rIns="0" bIns="0">
            <a:spAutoFit/>
          </a:bodyPr>
          <a:lstStyle/>
          <a:p>
            <a:pPr>
              <a:spcAft>
                <a:spcPts val="800"/>
              </a:spcAft>
              <a:defRPr sz="1500" b="0">
                <a:solidFill>
                  <a:srgbClr val="B8D8E8"/>
                </a:solidFill>
                <a:latin typeface="Aptos"/>
              </a:defRPr>
            </a:pPr>
            <a:r>
              <a:t>Evidence &amp; statistics</a:t>
            </a:r>
          </a:p>
        </p:txBody>
      </p:sp>
      <p:sp>
        <p:nvSpPr>
          <p:cNvPr id="18" name="TextBox 17"/>
          <p:cNvSpPr txBox="1"/>
          <p:nvPr/>
        </p:nvSpPr>
        <p:spPr>
          <a:xfrm>
            <a:off x="9006840" y="4206240"/>
            <a:ext cx="2743200" cy="457200"/>
          </a:xfrm>
          <a:prstGeom prst="rect">
            <a:avLst/>
          </a:prstGeom>
          <a:noFill/>
        </p:spPr>
        <p:txBody>
          <a:bodyPr wrap="square" lIns="0" tIns="0" rIns="0" bIns="0">
            <a:spAutoFit/>
          </a:bodyPr>
          <a:lstStyle/>
          <a:p>
            <a:pPr>
              <a:spcAft>
                <a:spcPts val="800"/>
              </a:spcAft>
              <a:defRPr sz="2600" b="1">
                <a:solidFill>
                  <a:srgbClr val="FFFFFF"/>
                </a:solidFill>
                <a:latin typeface="Aptos"/>
              </a:defRPr>
            </a:pPr>
            <a:r>
              <a:t>SHINY</a:t>
            </a:r>
          </a:p>
        </p:txBody>
      </p:sp>
      <p:sp>
        <p:nvSpPr>
          <p:cNvPr id="19" name="TextBox 18"/>
          <p:cNvSpPr txBox="1"/>
          <p:nvPr/>
        </p:nvSpPr>
        <p:spPr>
          <a:xfrm>
            <a:off x="9006840" y="4736592"/>
            <a:ext cx="2743200" cy="365760"/>
          </a:xfrm>
          <a:prstGeom prst="rect">
            <a:avLst/>
          </a:prstGeom>
          <a:noFill/>
        </p:spPr>
        <p:txBody>
          <a:bodyPr wrap="square" lIns="0" tIns="0" rIns="0" bIns="0">
            <a:spAutoFit/>
          </a:bodyPr>
          <a:lstStyle/>
          <a:p>
            <a:pPr>
              <a:spcAft>
                <a:spcPts val="800"/>
              </a:spcAft>
              <a:defRPr sz="1500" b="0">
                <a:solidFill>
                  <a:srgbClr val="B8D8E8"/>
                </a:solidFill>
                <a:latin typeface="Aptos"/>
              </a:defRPr>
            </a:pPr>
            <a:r>
              <a:t>Decision support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The Business Problem</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Credit teams need one view of demand, operations and portfolio risk.</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 5</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02</a:t>
            </a:r>
          </a:p>
        </p:txBody>
      </p:sp>
      <p:sp>
        <p:nvSpPr>
          <p:cNvPr id="8" name="TextBox 7"/>
          <p:cNvSpPr txBox="1"/>
          <p:nvPr/>
        </p:nvSpPr>
        <p:spPr>
          <a:xfrm>
            <a:off x="731520" y="1828800"/>
            <a:ext cx="4754880" cy="1645920"/>
          </a:xfrm>
          <a:prstGeom prst="rect">
            <a:avLst/>
          </a:prstGeom>
          <a:noFill/>
        </p:spPr>
        <p:txBody>
          <a:bodyPr wrap="square" lIns="0" tIns="0" rIns="0" bIns="0">
            <a:spAutoFit/>
          </a:bodyPr>
          <a:lstStyle/>
          <a:p>
            <a:pPr>
              <a:spcAft>
                <a:spcPts val="800"/>
              </a:spcAft>
              <a:defRPr sz="3000" b="1">
                <a:solidFill>
                  <a:srgbClr val="0B1F3A"/>
                </a:solidFill>
                <a:latin typeface="Aptos"/>
              </a:defRPr>
            </a:pPr>
            <a:r>
              <a:t>Raw lending data needs</a:t>
            </a:r>
          </a:p>
          <a:p>
            <a:pPr>
              <a:spcAft>
                <a:spcPts val="800"/>
              </a:spcAft>
              <a:defRPr sz="3000" b="1">
                <a:solidFill>
                  <a:srgbClr val="0B1F3A"/>
                </a:solidFill>
                <a:latin typeface="Aptos"/>
              </a:defRPr>
            </a:pPr>
            <a:r>
              <a:t>structure before it can</a:t>
            </a:r>
          </a:p>
          <a:p>
            <a:pPr>
              <a:spcAft>
                <a:spcPts val="800"/>
              </a:spcAft>
              <a:defRPr sz="3000" b="1">
                <a:solidFill>
                  <a:srgbClr val="0B1F3A"/>
                </a:solidFill>
                <a:latin typeface="Aptos"/>
              </a:defRPr>
            </a:pPr>
            <a:r>
              <a:t>support decisions.</a:t>
            </a:r>
          </a:p>
        </p:txBody>
      </p:sp>
      <p:sp>
        <p:nvSpPr>
          <p:cNvPr id="9" name="TextBox 8"/>
          <p:cNvSpPr txBox="1"/>
          <p:nvPr/>
        </p:nvSpPr>
        <p:spPr>
          <a:xfrm>
            <a:off x="731520" y="4023360"/>
            <a:ext cx="4663440" cy="1005840"/>
          </a:xfrm>
          <a:prstGeom prst="rect">
            <a:avLst/>
          </a:prstGeom>
          <a:noFill/>
        </p:spPr>
        <p:txBody>
          <a:bodyPr wrap="square" lIns="0" tIns="0" rIns="0" bIns="0">
            <a:spAutoFit/>
          </a:bodyPr>
          <a:lstStyle/>
          <a:p>
            <a:pPr>
              <a:spcAft>
                <a:spcPts val="800"/>
              </a:spcAft>
              <a:defRPr sz="2000" b="0">
                <a:solidFill>
                  <a:srgbClr val="64748B"/>
                </a:solidFill>
                <a:latin typeface="Aptos"/>
              </a:defRPr>
            </a:pPr>
            <a:r>
              <a:t>Timely, consistent credit intelligence</a:t>
            </a:r>
          </a:p>
          <a:p>
            <a:pPr>
              <a:spcAft>
                <a:spcPts val="800"/>
              </a:spcAft>
              <a:defRPr sz="2000" b="0">
                <a:solidFill>
                  <a:srgbClr val="64748B"/>
                </a:solidFill>
                <a:latin typeface="Aptos"/>
              </a:defRPr>
            </a:pPr>
            <a:r>
              <a:t>for operational and risk monitoring.</a:t>
            </a:r>
          </a:p>
        </p:txBody>
      </p:sp>
      <p:sp>
        <p:nvSpPr>
          <p:cNvPr id="10" name="Rounded Rectangle 9"/>
          <p:cNvSpPr/>
          <p:nvPr/>
        </p:nvSpPr>
        <p:spPr>
          <a:xfrm>
            <a:off x="5852160" y="1691640"/>
            <a:ext cx="2606040" cy="114300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852160" y="1691640"/>
            <a:ext cx="50292" cy="1143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16752" y="1819656"/>
            <a:ext cx="2286000"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Demand</a:t>
            </a:r>
          </a:p>
        </p:txBody>
      </p:sp>
      <p:sp>
        <p:nvSpPr>
          <p:cNvPr id="13" name="TextBox 12"/>
          <p:cNvSpPr txBox="1"/>
          <p:nvPr/>
        </p:nvSpPr>
        <p:spPr>
          <a:xfrm>
            <a:off x="6016752" y="2212848"/>
            <a:ext cx="2286000" cy="612648"/>
          </a:xfrm>
          <a:prstGeom prst="rect">
            <a:avLst/>
          </a:prstGeom>
          <a:noFill/>
        </p:spPr>
        <p:txBody>
          <a:bodyPr wrap="square" lIns="0" tIns="0" rIns="0" bIns="0">
            <a:spAutoFit/>
          </a:bodyPr>
          <a:lstStyle/>
          <a:p>
            <a:pPr>
              <a:spcAft>
                <a:spcPts val="800"/>
              </a:spcAft>
              <a:defRPr sz="1500" b="0">
                <a:solidFill>
                  <a:srgbClr val="20252B"/>
                </a:solidFill>
                <a:latin typeface="Aptos"/>
              </a:defRPr>
            </a:pPr>
            <a:r>
              <a:t>Application intake</a:t>
            </a:r>
          </a:p>
        </p:txBody>
      </p:sp>
      <p:sp>
        <p:nvSpPr>
          <p:cNvPr id="14" name="Rounded Rectangle 13"/>
          <p:cNvSpPr/>
          <p:nvPr/>
        </p:nvSpPr>
        <p:spPr>
          <a:xfrm>
            <a:off x="8686800" y="1691640"/>
            <a:ext cx="2606040" cy="114300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86800" y="1691640"/>
            <a:ext cx="50292" cy="1143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51392" y="1819656"/>
            <a:ext cx="2286000"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Decisions</a:t>
            </a:r>
          </a:p>
        </p:txBody>
      </p:sp>
      <p:sp>
        <p:nvSpPr>
          <p:cNvPr id="17" name="TextBox 16"/>
          <p:cNvSpPr txBox="1"/>
          <p:nvPr/>
        </p:nvSpPr>
        <p:spPr>
          <a:xfrm>
            <a:off x="8851392" y="2212848"/>
            <a:ext cx="2286000" cy="612648"/>
          </a:xfrm>
          <a:prstGeom prst="rect">
            <a:avLst/>
          </a:prstGeom>
          <a:noFill/>
        </p:spPr>
        <p:txBody>
          <a:bodyPr wrap="square" lIns="0" tIns="0" rIns="0" bIns="0">
            <a:spAutoFit/>
          </a:bodyPr>
          <a:lstStyle/>
          <a:p>
            <a:pPr>
              <a:spcAft>
                <a:spcPts val="800"/>
              </a:spcAft>
              <a:defRPr sz="1500" b="0">
                <a:solidFill>
                  <a:srgbClr val="20252B"/>
                </a:solidFill>
                <a:latin typeface="Aptos"/>
              </a:defRPr>
            </a:pPr>
            <a:r>
              <a:t>Approval outcomes</a:t>
            </a:r>
          </a:p>
        </p:txBody>
      </p:sp>
      <p:sp>
        <p:nvSpPr>
          <p:cNvPr id="18" name="Rounded Rectangle 17"/>
          <p:cNvSpPr/>
          <p:nvPr/>
        </p:nvSpPr>
        <p:spPr>
          <a:xfrm>
            <a:off x="5852160" y="3063240"/>
            <a:ext cx="2606040" cy="114300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852160" y="3063240"/>
            <a:ext cx="50292" cy="1143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16752" y="3191256"/>
            <a:ext cx="2286000"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Processing</a:t>
            </a:r>
          </a:p>
        </p:txBody>
      </p:sp>
      <p:sp>
        <p:nvSpPr>
          <p:cNvPr id="21" name="TextBox 20"/>
          <p:cNvSpPr txBox="1"/>
          <p:nvPr/>
        </p:nvSpPr>
        <p:spPr>
          <a:xfrm>
            <a:off x="6016752" y="3584448"/>
            <a:ext cx="2286000" cy="612648"/>
          </a:xfrm>
          <a:prstGeom prst="rect">
            <a:avLst/>
          </a:prstGeom>
          <a:noFill/>
        </p:spPr>
        <p:txBody>
          <a:bodyPr wrap="square" lIns="0" tIns="0" rIns="0" bIns="0">
            <a:spAutoFit/>
          </a:bodyPr>
          <a:lstStyle/>
          <a:p>
            <a:pPr>
              <a:spcAft>
                <a:spcPts val="800"/>
              </a:spcAft>
              <a:defRPr sz="1500" b="0">
                <a:solidFill>
                  <a:srgbClr val="20252B"/>
                </a:solidFill>
                <a:latin typeface="Aptos"/>
              </a:defRPr>
            </a:pPr>
            <a:r>
              <a:t>Stage delays &amp; TAT</a:t>
            </a:r>
          </a:p>
        </p:txBody>
      </p:sp>
      <p:sp>
        <p:nvSpPr>
          <p:cNvPr id="22" name="Rounded Rectangle 21"/>
          <p:cNvSpPr/>
          <p:nvPr/>
        </p:nvSpPr>
        <p:spPr>
          <a:xfrm>
            <a:off x="8686800" y="3063240"/>
            <a:ext cx="2606040" cy="114300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686800" y="3063240"/>
            <a:ext cx="50292" cy="1143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51392" y="3191256"/>
            <a:ext cx="2286000"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Exposure</a:t>
            </a:r>
          </a:p>
        </p:txBody>
      </p:sp>
      <p:sp>
        <p:nvSpPr>
          <p:cNvPr id="25" name="TextBox 24"/>
          <p:cNvSpPr txBox="1"/>
          <p:nvPr/>
        </p:nvSpPr>
        <p:spPr>
          <a:xfrm>
            <a:off x="8851392" y="3584448"/>
            <a:ext cx="2286000" cy="612648"/>
          </a:xfrm>
          <a:prstGeom prst="rect">
            <a:avLst/>
          </a:prstGeom>
          <a:noFill/>
        </p:spPr>
        <p:txBody>
          <a:bodyPr wrap="square" lIns="0" tIns="0" rIns="0" bIns="0">
            <a:spAutoFit/>
          </a:bodyPr>
          <a:lstStyle/>
          <a:p>
            <a:pPr>
              <a:spcAft>
                <a:spcPts val="800"/>
              </a:spcAft>
              <a:defRPr sz="1500" b="0">
                <a:solidFill>
                  <a:srgbClr val="20252B"/>
                </a:solidFill>
                <a:latin typeface="Aptos"/>
              </a:defRPr>
            </a:pPr>
            <a:r>
              <a:t>Disbursed &amp; outstanding</a:t>
            </a:r>
          </a:p>
        </p:txBody>
      </p:sp>
      <p:sp>
        <p:nvSpPr>
          <p:cNvPr id="26" name="Rounded Rectangle 25"/>
          <p:cNvSpPr/>
          <p:nvPr/>
        </p:nvSpPr>
        <p:spPr>
          <a:xfrm>
            <a:off x="5852160" y="4434840"/>
            <a:ext cx="2606040" cy="114300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852160" y="4434840"/>
            <a:ext cx="50292" cy="1143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016752" y="4562855"/>
            <a:ext cx="2286000"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Delinquency</a:t>
            </a:r>
          </a:p>
        </p:txBody>
      </p:sp>
      <p:sp>
        <p:nvSpPr>
          <p:cNvPr id="29" name="TextBox 28"/>
          <p:cNvSpPr txBox="1"/>
          <p:nvPr/>
        </p:nvSpPr>
        <p:spPr>
          <a:xfrm>
            <a:off x="6016752" y="4956048"/>
            <a:ext cx="2286000" cy="612648"/>
          </a:xfrm>
          <a:prstGeom prst="rect">
            <a:avLst/>
          </a:prstGeom>
          <a:noFill/>
        </p:spPr>
        <p:txBody>
          <a:bodyPr wrap="square" lIns="0" tIns="0" rIns="0" bIns="0">
            <a:spAutoFit/>
          </a:bodyPr>
          <a:lstStyle/>
          <a:p>
            <a:pPr>
              <a:spcAft>
                <a:spcPts val="800"/>
              </a:spcAft>
              <a:defRPr sz="1500" b="0">
                <a:solidFill>
                  <a:srgbClr val="20252B"/>
                </a:solidFill>
                <a:latin typeface="Aptos"/>
              </a:defRPr>
            </a:pPr>
            <a:r>
              <a:t>DPD, PAR30 &amp; PAR90</a:t>
            </a:r>
          </a:p>
        </p:txBody>
      </p:sp>
      <p:sp>
        <p:nvSpPr>
          <p:cNvPr id="30" name="Rounded Rectangle 29"/>
          <p:cNvSpPr/>
          <p:nvPr/>
        </p:nvSpPr>
        <p:spPr>
          <a:xfrm>
            <a:off x="8686800" y="4434840"/>
            <a:ext cx="2606040" cy="114300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686800" y="4434840"/>
            <a:ext cx="50292" cy="1143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51392" y="4562855"/>
            <a:ext cx="2286000"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Concentration</a:t>
            </a:r>
          </a:p>
        </p:txBody>
      </p:sp>
      <p:sp>
        <p:nvSpPr>
          <p:cNvPr id="33" name="TextBox 32"/>
          <p:cNvSpPr txBox="1"/>
          <p:nvPr/>
        </p:nvSpPr>
        <p:spPr>
          <a:xfrm>
            <a:off x="8851392" y="4956048"/>
            <a:ext cx="2286000" cy="612648"/>
          </a:xfrm>
          <a:prstGeom prst="rect">
            <a:avLst/>
          </a:prstGeom>
          <a:noFill/>
        </p:spPr>
        <p:txBody>
          <a:bodyPr wrap="square" lIns="0" tIns="0" rIns="0" bIns="0">
            <a:spAutoFit/>
          </a:bodyPr>
          <a:lstStyle/>
          <a:p>
            <a:pPr>
              <a:spcAft>
                <a:spcPts val="800"/>
              </a:spcAft>
              <a:defRPr sz="1500" b="0">
                <a:solidFill>
                  <a:srgbClr val="20252B"/>
                </a:solidFill>
                <a:latin typeface="Aptos"/>
              </a:defRPr>
            </a:pPr>
            <a:r>
              <a:t>Branch × sector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From Raw Data to Decision Support</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One workflow connects database engineering, analysis and an interactive product.</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pp. 5–7, 13</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03</a:t>
            </a:r>
          </a:p>
        </p:txBody>
      </p:sp>
      <p:pic>
        <p:nvPicPr>
          <p:cNvPr id="8" name="Picture 7" descr="p1_1.png"/>
          <p:cNvPicPr>
            <a:picLocks noChangeAspect="1"/>
          </p:cNvPicPr>
          <p:nvPr/>
        </p:nvPicPr>
        <p:blipFill>
          <a:blip r:embed="rId3"/>
          <a:stretch>
            <a:fillRect/>
          </a:stretch>
        </p:blipFill>
        <p:spPr>
          <a:xfrm>
            <a:off x="1612102" y="1645920"/>
            <a:ext cx="9028755" cy="2057400"/>
          </a:xfrm>
          <a:prstGeom prst="rect">
            <a:avLst/>
          </a:prstGeom>
        </p:spPr>
      </p:pic>
      <p:sp>
        <p:nvSpPr>
          <p:cNvPr id="9" name="Rounded Rectangle 8"/>
          <p:cNvSpPr/>
          <p:nvPr/>
        </p:nvSpPr>
        <p:spPr>
          <a:xfrm>
            <a:off x="731520" y="4069080"/>
            <a:ext cx="3429000" cy="150876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4069080"/>
            <a:ext cx="50292" cy="150876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4197096"/>
            <a:ext cx="3108960"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01  FOUNDATION</a:t>
            </a:r>
          </a:p>
        </p:txBody>
      </p:sp>
      <p:sp>
        <p:nvSpPr>
          <p:cNvPr id="12" name="TextBox 11"/>
          <p:cNvSpPr txBox="1"/>
          <p:nvPr/>
        </p:nvSpPr>
        <p:spPr>
          <a:xfrm>
            <a:off x="896112" y="4590288"/>
            <a:ext cx="3108960" cy="978407"/>
          </a:xfrm>
          <a:prstGeom prst="rect">
            <a:avLst/>
          </a:prstGeom>
          <a:noFill/>
        </p:spPr>
        <p:txBody>
          <a:bodyPr wrap="square" lIns="0" tIns="0" rIns="0" bIns="0">
            <a:spAutoFit/>
          </a:bodyPr>
          <a:lstStyle/>
          <a:p>
            <a:pPr>
              <a:spcAft>
                <a:spcPts val="800"/>
              </a:spcAft>
              <a:defRPr sz="1500" b="0">
                <a:solidFill>
                  <a:srgbClr val="20252B"/>
                </a:solidFill>
                <a:latin typeface="Aptos"/>
              </a:defRPr>
            </a:pPr>
            <a:r>
              <a:t>Synthetic data → PostgreSQL</a:t>
            </a:r>
          </a:p>
          <a:p>
            <a:pPr>
              <a:spcAft>
                <a:spcPts val="800"/>
              </a:spcAft>
              <a:defRPr sz="1500" b="0">
                <a:solidFill>
                  <a:srgbClr val="20252B"/>
                </a:solidFill>
                <a:latin typeface="Aptos"/>
              </a:defRPr>
            </a:pPr>
            <a:r>
              <a:t>Quality checks → SQL KPIs</a:t>
            </a:r>
          </a:p>
        </p:txBody>
      </p:sp>
      <p:sp>
        <p:nvSpPr>
          <p:cNvPr id="13" name="Rounded Rectangle 12"/>
          <p:cNvSpPr/>
          <p:nvPr/>
        </p:nvSpPr>
        <p:spPr>
          <a:xfrm>
            <a:off x="4434840" y="4069080"/>
            <a:ext cx="3429000" cy="150876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34840" y="4069080"/>
            <a:ext cx="50292" cy="150876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99431" y="4197096"/>
            <a:ext cx="3108960"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02  INVESTIGATION</a:t>
            </a:r>
          </a:p>
        </p:txBody>
      </p:sp>
      <p:sp>
        <p:nvSpPr>
          <p:cNvPr id="16" name="TextBox 15"/>
          <p:cNvSpPr txBox="1"/>
          <p:nvPr/>
        </p:nvSpPr>
        <p:spPr>
          <a:xfrm>
            <a:off x="4599431" y="4590288"/>
            <a:ext cx="3108960" cy="978407"/>
          </a:xfrm>
          <a:prstGeom prst="rect">
            <a:avLst/>
          </a:prstGeom>
          <a:noFill/>
        </p:spPr>
        <p:txBody>
          <a:bodyPr wrap="square" lIns="0" tIns="0" rIns="0" bIns="0">
            <a:spAutoFit/>
          </a:bodyPr>
          <a:lstStyle/>
          <a:p>
            <a:pPr>
              <a:spcAft>
                <a:spcPts val="800"/>
              </a:spcAft>
              <a:defRPr sz="1500" b="0">
                <a:solidFill>
                  <a:srgbClr val="20252B"/>
                </a:solidFill>
                <a:latin typeface="Aptos"/>
              </a:defRPr>
            </a:pPr>
            <a:r>
              <a:t>R exploratory analysis</a:t>
            </a:r>
          </a:p>
          <a:p>
            <a:pPr>
              <a:spcAft>
                <a:spcPts val="800"/>
              </a:spcAft>
              <a:defRPr sz="1500" b="0">
                <a:solidFill>
                  <a:srgbClr val="20252B"/>
                </a:solidFill>
                <a:latin typeface="Aptos"/>
              </a:defRPr>
            </a:pPr>
            <a:r>
              <a:t>Statistical evaluation</a:t>
            </a:r>
          </a:p>
        </p:txBody>
      </p:sp>
      <p:sp>
        <p:nvSpPr>
          <p:cNvPr id="17" name="Rounded Rectangle 16"/>
          <p:cNvSpPr/>
          <p:nvPr/>
        </p:nvSpPr>
        <p:spPr>
          <a:xfrm>
            <a:off x="8138160" y="4069080"/>
            <a:ext cx="3429000" cy="150876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4069080"/>
            <a:ext cx="50292" cy="150876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02752" y="4197096"/>
            <a:ext cx="3108960"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03  DELIVERY</a:t>
            </a:r>
          </a:p>
        </p:txBody>
      </p:sp>
      <p:sp>
        <p:nvSpPr>
          <p:cNvPr id="20" name="TextBox 19"/>
          <p:cNvSpPr txBox="1"/>
          <p:nvPr/>
        </p:nvSpPr>
        <p:spPr>
          <a:xfrm>
            <a:off x="8302752" y="4590288"/>
            <a:ext cx="3108960" cy="978407"/>
          </a:xfrm>
          <a:prstGeom prst="rect">
            <a:avLst/>
          </a:prstGeom>
          <a:noFill/>
        </p:spPr>
        <p:txBody>
          <a:bodyPr wrap="square" lIns="0" tIns="0" rIns="0" bIns="0">
            <a:spAutoFit/>
          </a:bodyPr>
          <a:lstStyle/>
          <a:p>
            <a:pPr>
              <a:spcAft>
                <a:spcPts val="800"/>
              </a:spcAft>
              <a:defRPr sz="1500" b="0">
                <a:solidFill>
                  <a:srgbClr val="20252B"/>
                </a:solidFill>
                <a:latin typeface="Aptos"/>
              </a:defRPr>
            </a:pPr>
            <a:r>
              <a:t>Reactive R Shiny dashboard</a:t>
            </a:r>
          </a:p>
          <a:p>
            <a:pPr>
              <a:spcAft>
                <a:spcPts val="800"/>
              </a:spcAft>
              <a:defRPr sz="1500" b="0">
                <a:solidFill>
                  <a:srgbClr val="20252B"/>
                </a:solidFill>
                <a:latin typeface="Aptos"/>
              </a:defRPr>
            </a:pPr>
            <a:r>
              <a:t>Management insights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Relational Data Architecture</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Six tables preserve the grain of the SME lending journey.</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pp. 5–6</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04</a:t>
            </a:r>
          </a:p>
        </p:txBody>
      </p:sp>
      <p:pic>
        <p:nvPicPr>
          <p:cNvPr id="8" name="Picture 7" descr="p1_2.png"/>
          <p:cNvPicPr>
            <a:picLocks noChangeAspect="1"/>
          </p:cNvPicPr>
          <p:nvPr/>
        </p:nvPicPr>
        <p:blipFill>
          <a:blip r:embed="rId3"/>
          <a:stretch>
            <a:fillRect/>
          </a:stretch>
        </p:blipFill>
        <p:spPr>
          <a:xfrm>
            <a:off x="731520" y="1627923"/>
            <a:ext cx="6858000" cy="3647872"/>
          </a:xfrm>
          <a:prstGeom prst="rect">
            <a:avLst/>
          </a:prstGeom>
        </p:spPr>
      </p:pic>
      <p:sp>
        <p:nvSpPr>
          <p:cNvPr id="9" name="TextBox 8"/>
          <p:cNvSpPr txBox="1"/>
          <p:nvPr/>
        </p:nvSpPr>
        <p:spPr>
          <a:xfrm>
            <a:off x="7955279" y="1783080"/>
            <a:ext cx="2377440" cy="365760"/>
          </a:xfrm>
          <a:prstGeom prst="rect">
            <a:avLst/>
          </a:prstGeom>
          <a:noFill/>
        </p:spPr>
        <p:txBody>
          <a:bodyPr wrap="square" lIns="0" tIns="0" rIns="0" bIns="0">
            <a:spAutoFit/>
          </a:bodyPr>
          <a:lstStyle/>
          <a:p>
            <a:pPr>
              <a:spcAft>
                <a:spcPts val="800"/>
              </a:spcAft>
              <a:defRPr sz="1700" b="0">
                <a:solidFill>
                  <a:srgbClr val="0B1F3A"/>
                </a:solidFill>
                <a:latin typeface="Aptos"/>
              </a:defRPr>
            </a:pPr>
            <a:r>
              <a:t>Branches</a:t>
            </a:r>
          </a:p>
        </p:txBody>
      </p:sp>
      <p:sp>
        <p:nvSpPr>
          <p:cNvPr id="10" name="TextBox 9"/>
          <p:cNvSpPr txBox="1"/>
          <p:nvPr/>
        </p:nvSpPr>
        <p:spPr>
          <a:xfrm>
            <a:off x="10378440" y="1783080"/>
            <a:ext cx="1005840" cy="365760"/>
          </a:xfrm>
          <a:prstGeom prst="rect">
            <a:avLst/>
          </a:prstGeom>
          <a:noFill/>
        </p:spPr>
        <p:txBody>
          <a:bodyPr wrap="square" lIns="0" tIns="0" rIns="0" bIns="0">
            <a:spAutoFit/>
          </a:bodyPr>
          <a:lstStyle/>
          <a:p>
            <a:pPr>
              <a:spcAft>
                <a:spcPts val="800"/>
              </a:spcAft>
              <a:defRPr sz="1900" b="1">
                <a:solidFill>
                  <a:srgbClr val="1479B8"/>
                </a:solidFill>
                <a:latin typeface="Aptos"/>
              </a:defRPr>
            </a:pPr>
            <a:r>
              <a:t>8</a:t>
            </a:r>
          </a:p>
        </p:txBody>
      </p:sp>
      <p:sp>
        <p:nvSpPr>
          <p:cNvPr id="11" name="TextBox 10"/>
          <p:cNvSpPr txBox="1"/>
          <p:nvPr/>
        </p:nvSpPr>
        <p:spPr>
          <a:xfrm>
            <a:off x="7955279" y="2331720"/>
            <a:ext cx="2377440" cy="365760"/>
          </a:xfrm>
          <a:prstGeom prst="rect">
            <a:avLst/>
          </a:prstGeom>
          <a:noFill/>
        </p:spPr>
        <p:txBody>
          <a:bodyPr wrap="square" lIns="0" tIns="0" rIns="0" bIns="0">
            <a:spAutoFit/>
          </a:bodyPr>
          <a:lstStyle/>
          <a:p>
            <a:pPr>
              <a:spcAft>
                <a:spcPts val="800"/>
              </a:spcAft>
              <a:defRPr sz="1700" b="0">
                <a:solidFill>
                  <a:srgbClr val="0B1F3A"/>
                </a:solidFill>
                <a:latin typeface="Aptos"/>
              </a:defRPr>
            </a:pPr>
            <a:r>
              <a:t>Customers</a:t>
            </a:r>
          </a:p>
        </p:txBody>
      </p:sp>
      <p:sp>
        <p:nvSpPr>
          <p:cNvPr id="12" name="TextBox 11"/>
          <p:cNvSpPr txBox="1"/>
          <p:nvPr/>
        </p:nvSpPr>
        <p:spPr>
          <a:xfrm>
            <a:off x="10378440" y="2331720"/>
            <a:ext cx="1005840" cy="365760"/>
          </a:xfrm>
          <a:prstGeom prst="rect">
            <a:avLst/>
          </a:prstGeom>
          <a:noFill/>
        </p:spPr>
        <p:txBody>
          <a:bodyPr wrap="square" lIns="0" tIns="0" rIns="0" bIns="0">
            <a:spAutoFit/>
          </a:bodyPr>
          <a:lstStyle/>
          <a:p>
            <a:pPr>
              <a:spcAft>
                <a:spcPts val="800"/>
              </a:spcAft>
              <a:defRPr sz="1900" b="1">
                <a:solidFill>
                  <a:srgbClr val="1479B8"/>
                </a:solidFill>
                <a:latin typeface="Aptos"/>
              </a:defRPr>
            </a:pPr>
            <a:r>
              <a:t>1,000</a:t>
            </a:r>
          </a:p>
        </p:txBody>
      </p:sp>
      <p:sp>
        <p:nvSpPr>
          <p:cNvPr id="13" name="TextBox 12"/>
          <p:cNvSpPr txBox="1"/>
          <p:nvPr/>
        </p:nvSpPr>
        <p:spPr>
          <a:xfrm>
            <a:off x="7955279" y="2880360"/>
            <a:ext cx="2377440" cy="365760"/>
          </a:xfrm>
          <a:prstGeom prst="rect">
            <a:avLst/>
          </a:prstGeom>
          <a:noFill/>
        </p:spPr>
        <p:txBody>
          <a:bodyPr wrap="square" lIns="0" tIns="0" rIns="0" bIns="0">
            <a:spAutoFit/>
          </a:bodyPr>
          <a:lstStyle/>
          <a:p>
            <a:pPr>
              <a:spcAft>
                <a:spcPts val="800"/>
              </a:spcAft>
              <a:defRPr sz="1700" b="0">
                <a:solidFill>
                  <a:srgbClr val="0B1F3A"/>
                </a:solidFill>
                <a:latin typeface="Aptos"/>
              </a:defRPr>
            </a:pPr>
            <a:r>
              <a:t>Applications</a:t>
            </a:r>
          </a:p>
        </p:txBody>
      </p:sp>
      <p:sp>
        <p:nvSpPr>
          <p:cNvPr id="14" name="TextBox 13"/>
          <p:cNvSpPr txBox="1"/>
          <p:nvPr/>
        </p:nvSpPr>
        <p:spPr>
          <a:xfrm>
            <a:off x="10378440" y="2880360"/>
            <a:ext cx="1005840" cy="365760"/>
          </a:xfrm>
          <a:prstGeom prst="rect">
            <a:avLst/>
          </a:prstGeom>
          <a:noFill/>
        </p:spPr>
        <p:txBody>
          <a:bodyPr wrap="square" lIns="0" tIns="0" rIns="0" bIns="0">
            <a:spAutoFit/>
          </a:bodyPr>
          <a:lstStyle/>
          <a:p>
            <a:pPr>
              <a:spcAft>
                <a:spcPts val="800"/>
              </a:spcAft>
              <a:defRPr sz="1900" b="1">
                <a:solidFill>
                  <a:srgbClr val="1479B8"/>
                </a:solidFill>
                <a:latin typeface="Aptos"/>
              </a:defRPr>
            </a:pPr>
            <a:r>
              <a:t>1,500</a:t>
            </a:r>
          </a:p>
        </p:txBody>
      </p:sp>
      <p:sp>
        <p:nvSpPr>
          <p:cNvPr id="15" name="TextBox 14"/>
          <p:cNvSpPr txBox="1"/>
          <p:nvPr/>
        </p:nvSpPr>
        <p:spPr>
          <a:xfrm>
            <a:off x="7955279" y="3429000"/>
            <a:ext cx="2377440" cy="365760"/>
          </a:xfrm>
          <a:prstGeom prst="rect">
            <a:avLst/>
          </a:prstGeom>
          <a:noFill/>
        </p:spPr>
        <p:txBody>
          <a:bodyPr wrap="square" lIns="0" tIns="0" rIns="0" bIns="0">
            <a:spAutoFit/>
          </a:bodyPr>
          <a:lstStyle/>
          <a:p>
            <a:pPr>
              <a:spcAft>
                <a:spcPts val="800"/>
              </a:spcAft>
              <a:defRPr sz="1700" b="0">
                <a:solidFill>
                  <a:srgbClr val="0B1F3A"/>
                </a:solidFill>
                <a:latin typeface="Aptos"/>
              </a:defRPr>
            </a:pPr>
            <a:r>
              <a:t>Application Stages</a:t>
            </a:r>
          </a:p>
        </p:txBody>
      </p:sp>
      <p:sp>
        <p:nvSpPr>
          <p:cNvPr id="16" name="TextBox 15"/>
          <p:cNvSpPr txBox="1"/>
          <p:nvPr/>
        </p:nvSpPr>
        <p:spPr>
          <a:xfrm>
            <a:off x="10378440" y="3429000"/>
            <a:ext cx="1005840" cy="365760"/>
          </a:xfrm>
          <a:prstGeom prst="rect">
            <a:avLst/>
          </a:prstGeom>
          <a:noFill/>
        </p:spPr>
        <p:txBody>
          <a:bodyPr wrap="square" lIns="0" tIns="0" rIns="0" bIns="0">
            <a:spAutoFit/>
          </a:bodyPr>
          <a:lstStyle/>
          <a:p>
            <a:pPr>
              <a:spcAft>
                <a:spcPts val="800"/>
              </a:spcAft>
              <a:defRPr sz="1900" b="1">
                <a:solidFill>
                  <a:srgbClr val="1479B8"/>
                </a:solidFill>
                <a:latin typeface="Aptos"/>
              </a:defRPr>
            </a:pPr>
            <a:r>
              <a:t>8,978</a:t>
            </a:r>
          </a:p>
        </p:txBody>
      </p:sp>
      <p:sp>
        <p:nvSpPr>
          <p:cNvPr id="17" name="TextBox 16"/>
          <p:cNvSpPr txBox="1"/>
          <p:nvPr/>
        </p:nvSpPr>
        <p:spPr>
          <a:xfrm>
            <a:off x="7955279" y="3977639"/>
            <a:ext cx="2377440" cy="365760"/>
          </a:xfrm>
          <a:prstGeom prst="rect">
            <a:avLst/>
          </a:prstGeom>
          <a:noFill/>
        </p:spPr>
        <p:txBody>
          <a:bodyPr wrap="square" lIns="0" tIns="0" rIns="0" bIns="0">
            <a:spAutoFit/>
          </a:bodyPr>
          <a:lstStyle/>
          <a:p>
            <a:pPr>
              <a:spcAft>
                <a:spcPts val="800"/>
              </a:spcAft>
              <a:defRPr sz="1700" b="0">
                <a:solidFill>
                  <a:srgbClr val="0B1F3A"/>
                </a:solidFill>
                <a:latin typeface="Aptos"/>
              </a:defRPr>
            </a:pPr>
            <a:r>
              <a:t>Loans</a:t>
            </a:r>
          </a:p>
        </p:txBody>
      </p:sp>
      <p:sp>
        <p:nvSpPr>
          <p:cNvPr id="18" name="TextBox 17"/>
          <p:cNvSpPr txBox="1"/>
          <p:nvPr/>
        </p:nvSpPr>
        <p:spPr>
          <a:xfrm>
            <a:off x="10378440" y="3977639"/>
            <a:ext cx="1005840" cy="365760"/>
          </a:xfrm>
          <a:prstGeom prst="rect">
            <a:avLst/>
          </a:prstGeom>
          <a:noFill/>
        </p:spPr>
        <p:txBody>
          <a:bodyPr wrap="square" lIns="0" tIns="0" rIns="0" bIns="0">
            <a:spAutoFit/>
          </a:bodyPr>
          <a:lstStyle/>
          <a:p>
            <a:pPr>
              <a:spcAft>
                <a:spcPts val="800"/>
              </a:spcAft>
              <a:defRPr sz="1900" b="1">
                <a:solidFill>
                  <a:srgbClr val="1479B8"/>
                </a:solidFill>
                <a:latin typeface="Aptos"/>
              </a:defRPr>
            </a:pPr>
            <a:r>
              <a:t>995</a:t>
            </a:r>
          </a:p>
        </p:txBody>
      </p:sp>
      <p:sp>
        <p:nvSpPr>
          <p:cNvPr id="19" name="TextBox 18"/>
          <p:cNvSpPr txBox="1"/>
          <p:nvPr/>
        </p:nvSpPr>
        <p:spPr>
          <a:xfrm>
            <a:off x="7955279" y="4526280"/>
            <a:ext cx="2377440" cy="365760"/>
          </a:xfrm>
          <a:prstGeom prst="rect">
            <a:avLst/>
          </a:prstGeom>
          <a:noFill/>
        </p:spPr>
        <p:txBody>
          <a:bodyPr wrap="square" lIns="0" tIns="0" rIns="0" bIns="0">
            <a:spAutoFit/>
          </a:bodyPr>
          <a:lstStyle/>
          <a:p>
            <a:pPr>
              <a:spcAft>
                <a:spcPts val="800"/>
              </a:spcAft>
              <a:defRPr sz="1700" b="0">
                <a:solidFill>
                  <a:srgbClr val="0B1F3A"/>
                </a:solidFill>
                <a:latin typeface="Aptos"/>
              </a:defRPr>
            </a:pPr>
            <a:r>
              <a:t>Repayments</a:t>
            </a:r>
          </a:p>
        </p:txBody>
      </p:sp>
      <p:sp>
        <p:nvSpPr>
          <p:cNvPr id="20" name="TextBox 19"/>
          <p:cNvSpPr txBox="1"/>
          <p:nvPr/>
        </p:nvSpPr>
        <p:spPr>
          <a:xfrm>
            <a:off x="10378440" y="4526280"/>
            <a:ext cx="1005840" cy="365760"/>
          </a:xfrm>
          <a:prstGeom prst="rect">
            <a:avLst/>
          </a:prstGeom>
          <a:noFill/>
        </p:spPr>
        <p:txBody>
          <a:bodyPr wrap="square" lIns="0" tIns="0" rIns="0" bIns="0">
            <a:spAutoFit/>
          </a:bodyPr>
          <a:lstStyle/>
          <a:p>
            <a:pPr>
              <a:spcAft>
                <a:spcPts val="800"/>
              </a:spcAft>
              <a:defRPr sz="1900" b="1">
                <a:solidFill>
                  <a:srgbClr val="1479B8"/>
                </a:solidFill>
                <a:latin typeface="Aptos"/>
              </a:defRPr>
            </a:pPr>
            <a:r>
              <a:t>12,218</a:t>
            </a:r>
          </a:p>
        </p:txBody>
      </p:sp>
      <p:sp>
        <p:nvSpPr>
          <p:cNvPr id="21" name="Rectangle 20"/>
          <p:cNvSpPr/>
          <p:nvPr/>
        </p:nvSpPr>
        <p:spPr>
          <a:xfrm>
            <a:off x="731520" y="5577840"/>
            <a:ext cx="10789920" cy="56692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696712"/>
            <a:ext cx="10424160" cy="310896"/>
          </a:xfrm>
          <a:prstGeom prst="rect">
            <a:avLst/>
          </a:prstGeom>
          <a:noFill/>
        </p:spPr>
        <p:txBody>
          <a:bodyPr wrap="square" lIns="0" tIns="0" rIns="0" bIns="0">
            <a:spAutoFit/>
          </a:bodyPr>
          <a:lstStyle/>
          <a:p>
            <a:pPr>
              <a:spcAft>
                <a:spcPts val="800"/>
              </a:spcAft>
              <a:defRPr sz="1800" b="1">
                <a:solidFill>
                  <a:srgbClr val="0B1F3A"/>
                </a:solidFill>
                <a:latin typeface="Aptos"/>
              </a:defRPr>
            </a:pPr>
            <a:r>
              <a:t>Correct grain prevents one-to-many joins from overstating portfolio exposure.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Building a Reliable Analytical Foundation</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Reliable KPIs require reliable data — and exceptions require business review.</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pp. 7–9</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05</a:t>
            </a:r>
          </a:p>
        </p:txBody>
      </p:sp>
      <p:sp>
        <p:nvSpPr>
          <p:cNvPr id="8" name="Rounded Rectangle 7"/>
          <p:cNvSpPr/>
          <p:nvPr/>
        </p:nvSpPr>
        <p:spPr>
          <a:xfrm>
            <a:off x="731520" y="1737360"/>
            <a:ext cx="2560320" cy="192024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737360"/>
            <a:ext cx="50292" cy="192024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1865376"/>
            <a:ext cx="2240279"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Uniqueness</a:t>
            </a:r>
          </a:p>
        </p:txBody>
      </p:sp>
      <p:sp>
        <p:nvSpPr>
          <p:cNvPr id="11" name="TextBox 10"/>
          <p:cNvSpPr txBox="1"/>
          <p:nvPr/>
        </p:nvSpPr>
        <p:spPr>
          <a:xfrm>
            <a:off x="896112" y="2258568"/>
            <a:ext cx="2240279" cy="1389888"/>
          </a:xfrm>
          <a:prstGeom prst="rect">
            <a:avLst/>
          </a:prstGeom>
          <a:noFill/>
        </p:spPr>
        <p:txBody>
          <a:bodyPr wrap="square" lIns="0" tIns="0" rIns="0" bIns="0">
            <a:spAutoFit/>
          </a:bodyPr>
          <a:lstStyle/>
          <a:p>
            <a:pPr>
              <a:spcAft>
                <a:spcPts val="800"/>
              </a:spcAft>
              <a:defRPr sz="1500" b="0">
                <a:solidFill>
                  <a:srgbClr val="20252B"/>
                </a:solidFill>
                <a:latin typeface="Aptos"/>
              </a:defRPr>
            </a:pPr>
            <a:r>
              <a:t>Duplicate customer IDs: 0</a:t>
            </a:r>
          </a:p>
          <a:p>
            <a:pPr>
              <a:spcAft>
                <a:spcPts val="800"/>
              </a:spcAft>
              <a:defRPr sz="1500" b="0">
                <a:solidFill>
                  <a:srgbClr val="20252B"/>
                </a:solidFill>
                <a:latin typeface="Aptos"/>
              </a:defRPr>
            </a:pPr>
            <a:r>
              <a:t>Duplicate application IDs: 0</a:t>
            </a:r>
          </a:p>
        </p:txBody>
      </p:sp>
      <p:sp>
        <p:nvSpPr>
          <p:cNvPr id="12" name="Rounded Rectangle 11"/>
          <p:cNvSpPr/>
          <p:nvPr/>
        </p:nvSpPr>
        <p:spPr>
          <a:xfrm>
            <a:off x="3520439" y="1737360"/>
            <a:ext cx="2560320" cy="192024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20439" y="1737360"/>
            <a:ext cx="50292" cy="192024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85031" y="1865376"/>
            <a:ext cx="2240279"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Completeness</a:t>
            </a:r>
          </a:p>
        </p:txBody>
      </p:sp>
      <p:sp>
        <p:nvSpPr>
          <p:cNvPr id="15" name="TextBox 14"/>
          <p:cNvSpPr txBox="1"/>
          <p:nvPr/>
        </p:nvSpPr>
        <p:spPr>
          <a:xfrm>
            <a:off x="3685031" y="2258568"/>
            <a:ext cx="2240279" cy="1389888"/>
          </a:xfrm>
          <a:prstGeom prst="rect">
            <a:avLst/>
          </a:prstGeom>
          <a:noFill/>
        </p:spPr>
        <p:txBody>
          <a:bodyPr wrap="square" lIns="0" tIns="0" rIns="0" bIns="0">
            <a:spAutoFit/>
          </a:bodyPr>
          <a:lstStyle/>
          <a:p>
            <a:pPr>
              <a:spcAft>
                <a:spcPts val="800"/>
              </a:spcAft>
              <a:defRPr sz="1500" b="0">
                <a:solidFill>
                  <a:srgbClr val="20252B"/>
                </a:solidFill>
                <a:latin typeface="Aptos"/>
              </a:defRPr>
            </a:pPr>
            <a:r>
              <a:t>Missing core profiles: 0</a:t>
            </a:r>
          </a:p>
          <a:p>
            <a:pPr>
              <a:spcAft>
                <a:spcPts val="800"/>
              </a:spcAft>
              <a:defRPr sz="1500" b="0">
                <a:solidFill>
                  <a:srgbClr val="20252B"/>
                </a:solidFill>
                <a:latin typeface="Aptos"/>
              </a:defRPr>
            </a:pPr>
            <a:r>
              <a:t>Approved, no decision date: 0</a:t>
            </a:r>
          </a:p>
        </p:txBody>
      </p:sp>
      <p:sp>
        <p:nvSpPr>
          <p:cNvPr id="16" name="Rounded Rectangle 15"/>
          <p:cNvSpPr/>
          <p:nvPr/>
        </p:nvSpPr>
        <p:spPr>
          <a:xfrm>
            <a:off x="6309359" y="1737360"/>
            <a:ext cx="2560320" cy="192024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59" y="1737360"/>
            <a:ext cx="50292" cy="192024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3951" y="1865376"/>
            <a:ext cx="2240279"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Validity</a:t>
            </a:r>
          </a:p>
        </p:txBody>
      </p:sp>
      <p:sp>
        <p:nvSpPr>
          <p:cNvPr id="19" name="TextBox 18"/>
          <p:cNvSpPr txBox="1"/>
          <p:nvPr/>
        </p:nvSpPr>
        <p:spPr>
          <a:xfrm>
            <a:off x="6473951" y="2258568"/>
            <a:ext cx="2240279" cy="1389888"/>
          </a:xfrm>
          <a:prstGeom prst="rect">
            <a:avLst/>
          </a:prstGeom>
          <a:noFill/>
        </p:spPr>
        <p:txBody>
          <a:bodyPr wrap="square" lIns="0" tIns="0" rIns="0" bIns="0">
            <a:spAutoFit/>
          </a:bodyPr>
          <a:lstStyle/>
          <a:p>
            <a:pPr>
              <a:spcAft>
                <a:spcPts val="800"/>
              </a:spcAft>
              <a:defRPr sz="1500" b="0">
                <a:solidFill>
                  <a:srgbClr val="20252B"/>
                </a:solidFill>
                <a:latin typeface="Aptos"/>
              </a:defRPr>
            </a:pPr>
            <a:r>
              <a:t>Negative balances: 0</a:t>
            </a:r>
          </a:p>
          <a:p>
            <a:pPr>
              <a:spcAft>
                <a:spcPts val="800"/>
              </a:spcAft>
              <a:defRPr sz="1500" b="0">
                <a:solidFill>
                  <a:srgbClr val="20252B"/>
                </a:solidFill>
                <a:latin typeface="Aptos"/>
              </a:defRPr>
            </a:pPr>
            <a:r>
              <a:t>Invalid decision chronology: 0</a:t>
            </a:r>
          </a:p>
        </p:txBody>
      </p:sp>
      <p:sp>
        <p:nvSpPr>
          <p:cNvPr id="20" name="Rounded Rectangle 19"/>
          <p:cNvSpPr/>
          <p:nvPr/>
        </p:nvSpPr>
        <p:spPr>
          <a:xfrm>
            <a:off x="9098280" y="1737360"/>
            <a:ext cx="2560320" cy="192024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98280" y="1737360"/>
            <a:ext cx="50292" cy="192024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62872" y="1865376"/>
            <a:ext cx="2240279"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Consistency</a:t>
            </a:r>
          </a:p>
        </p:txBody>
      </p:sp>
      <p:sp>
        <p:nvSpPr>
          <p:cNvPr id="23" name="TextBox 22"/>
          <p:cNvSpPr txBox="1"/>
          <p:nvPr/>
        </p:nvSpPr>
        <p:spPr>
          <a:xfrm>
            <a:off x="9262872" y="2258568"/>
            <a:ext cx="2240279" cy="1389888"/>
          </a:xfrm>
          <a:prstGeom prst="rect">
            <a:avLst/>
          </a:prstGeom>
          <a:noFill/>
        </p:spPr>
        <p:txBody>
          <a:bodyPr wrap="square" lIns="0" tIns="0" rIns="0" bIns="0">
            <a:spAutoFit/>
          </a:bodyPr>
          <a:lstStyle/>
          <a:p>
            <a:pPr>
              <a:spcAft>
                <a:spcPts val="800"/>
              </a:spcAft>
              <a:defRPr sz="1500" b="0">
                <a:solidFill>
                  <a:srgbClr val="20252B"/>
                </a:solidFill>
                <a:latin typeface="Aptos"/>
              </a:defRPr>
            </a:pPr>
            <a:r>
              <a:t>Rejected with loan: 0</a:t>
            </a:r>
          </a:p>
          <a:p>
            <a:pPr>
              <a:spcAft>
                <a:spcPts val="800"/>
              </a:spcAft>
              <a:defRPr sz="1500" b="0">
                <a:solidFill>
                  <a:srgbClr val="20252B"/>
                </a:solidFill>
                <a:latin typeface="Aptos"/>
              </a:defRPr>
            </a:pPr>
            <a:r>
              <a:t>Outstanding &gt; disbursed: 0</a:t>
            </a:r>
          </a:p>
        </p:txBody>
      </p:sp>
      <p:sp>
        <p:nvSpPr>
          <p:cNvPr id="24" name="Rounded Rectangle 23"/>
          <p:cNvSpPr/>
          <p:nvPr/>
        </p:nvSpPr>
        <p:spPr>
          <a:xfrm>
            <a:off x="731520" y="4023360"/>
            <a:ext cx="10744200" cy="96012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1520" y="4023360"/>
            <a:ext cx="50292" cy="960120"/>
          </a:xfrm>
          <a:prstGeom prst="rect">
            <a:avLst/>
          </a:prstGeom>
          <a:solidFill>
            <a:srgbClr val="F3A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6112" y="4151376"/>
            <a:ext cx="10424160" cy="347472"/>
          </a:xfrm>
          <a:prstGeom prst="rect">
            <a:avLst/>
          </a:prstGeom>
          <a:noFill/>
        </p:spPr>
        <p:txBody>
          <a:bodyPr wrap="square" lIns="0" tIns="0" rIns="0" bIns="0">
            <a:spAutoFit/>
          </a:bodyPr>
          <a:lstStyle/>
          <a:p>
            <a:pPr>
              <a:spcAft>
                <a:spcPts val="800"/>
              </a:spcAft>
              <a:defRPr sz="1900" b="1">
                <a:solidFill>
                  <a:srgbClr val="F3A51B"/>
                </a:solidFill>
                <a:latin typeface="Aptos"/>
              </a:defRPr>
            </a:pPr>
            <a:r>
              <a:t>9 approved applications without a loan</a:t>
            </a:r>
          </a:p>
        </p:txBody>
      </p:sp>
      <p:sp>
        <p:nvSpPr>
          <p:cNvPr id="27" name="TextBox 26"/>
          <p:cNvSpPr txBox="1"/>
          <p:nvPr/>
        </p:nvSpPr>
        <p:spPr>
          <a:xfrm>
            <a:off x="896112" y="4544568"/>
            <a:ext cx="10424160" cy="429768"/>
          </a:xfrm>
          <a:prstGeom prst="rect">
            <a:avLst/>
          </a:prstGeom>
          <a:noFill/>
        </p:spPr>
        <p:txBody>
          <a:bodyPr wrap="square" lIns="0" tIns="0" rIns="0" bIns="0">
            <a:spAutoFit/>
          </a:bodyPr>
          <a:lstStyle/>
          <a:p>
            <a:pPr>
              <a:spcAft>
                <a:spcPts val="800"/>
              </a:spcAft>
              <a:defRPr sz="1500" b="0">
                <a:solidFill>
                  <a:srgbClr val="20252B"/>
                </a:solidFill>
                <a:latin typeface="Aptos"/>
              </a:defRPr>
            </a:pPr>
            <a:r>
              <a:t>Flag for follow-up; do not automatically treat as an error.</a:t>
            </a:r>
          </a:p>
        </p:txBody>
      </p:sp>
      <p:sp>
        <p:nvSpPr>
          <p:cNvPr id="28" name="TextBox 27"/>
          <p:cNvSpPr txBox="1"/>
          <p:nvPr/>
        </p:nvSpPr>
        <p:spPr>
          <a:xfrm>
            <a:off x="777240" y="5349240"/>
            <a:ext cx="10789920" cy="365760"/>
          </a:xfrm>
          <a:prstGeom prst="rect">
            <a:avLst/>
          </a:prstGeom>
          <a:noFill/>
        </p:spPr>
        <p:txBody>
          <a:bodyPr wrap="square" lIns="0" tIns="0" rIns="0" bIns="0">
            <a:spAutoFit/>
          </a:bodyPr>
          <a:lstStyle/>
          <a:p>
            <a:pPr>
              <a:spcAft>
                <a:spcPts val="800"/>
              </a:spcAft>
              <a:defRPr sz="1900" b="1">
                <a:solidFill>
                  <a:srgbClr val="0B1F3A"/>
                </a:solidFill>
                <a:latin typeface="Aptos"/>
              </a:defRPr>
            </a:pPr>
            <a:r>
              <a:t>PostgreSQL  •  JOINs  •  CTEs  •  CASE WHEN  •  Window Functions</a:t>
            </a:r>
          </a:p>
        </p:txBody>
      </p:sp>
      <p:sp>
        <p:nvSpPr>
          <p:cNvPr id="29" name="TextBox 28"/>
          <p:cNvSpPr txBox="1"/>
          <p:nvPr/>
        </p:nvSpPr>
        <p:spPr>
          <a:xfrm>
            <a:off x="777240" y="5806440"/>
            <a:ext cx="10789920" cy="320040"/>
          </a:xfrm>
          <a:prstGeom prst="rect">
            <a:avLst/>
          </a:prstGeom>
          <a:noFill/>
        </p:spPr>
        <p:txBody>
          <a:bodyPr wrap="square" lIns="0" tIns="0" rIns="0" bIns="0">
            <a:spAutoFit/>
          </a:bodyPr>
          <a:lstStyle/>
          <a:p>
            <a:pPr>
              <a:spcAft>
                <a:spcPts val="800"/>
              </a:spcAft>
              <a:defRPr sz="1500" b="0">
                <a:solidFill>
                  <a:srgbClr val="64748B"/>
                </a:solidFill>
                <a:latin typeface="Aptos"/>
              </a:defRPr>
            </a:pPr>
            <a:r>
              <a:t>LAG(): month-on-month comparisons     |     ROW_NUMBER(): latest stage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Portfolio at a Glance</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Six management KPIs connect financing demand, processing and financial risk.</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pp. 3, 8–9, 20</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06</a:t>
            </a:r>
          </a:p>
        </p:txBody>
      </p:sp>
      <p:sp>
        <p:nvSpPr>
          <p:cNvPr id="8" name="Rounded Rectangle 7"/>
          <p:cNvSpPr/>
          <p:nvPr/>
        </p:nvSpPr>
        <p:spPr>
          <a:xfrm>
            <a:off x="731520" y="1691640"/>
            <a:ext cx="3429000" cy="164592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691640"/>
            <a:ext cx="3429000" cy="54864"/>
          </a:xfrm>
          <a:prstGeom prst="rect">
            <a:avLst/>
          </a:prstGeom>
          <a:solidFill>
            <a:srgbClr val="1479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2011680"/>
            <a:ext cx="3063240" cy="594360"/>
          </a:xfrm>
          <a:prstGeom prst="rect">
            <a:avLst/>
          </a:prstGeom>
          <a:noFill/>
        </p:spPr>
        <p:txBody>
          <a:bodyPr wrap="square" lIns="0" tIns="0" rIns="0" bIns="0">
            <a:spAutoFit/>
          </a:bodyPr>
          <a:lstStyle/>
          <a:p>
            <a:pPr>
              <a:spcAft>
                <a:spcPts val="800"/>
              </a:spcAft>
              <a:defRPr sz="3100" b="1">
                <a:solidFill>
                  <a:srgbClr val="1479B8"/>
                </a:solidFill>
                <a:latin typeface="Aptos"/>
              </a:defRPr>
            </a:pPr>
            <a:r>
              <a:t>1,500</a:t>
            </a:r>
          </a:p>
        </p:txBody>
      </p:sp>
      <p:sp>
        <p:nvSpPr>
          <p:cNvPr id="11" name="TextBox 10"/>
          <p:cNvSpPr txBox="1"/>
          <p:nvPr/>
        </p:nvSpPr>
        <p:spPr>
          <a:xfrm>
            <a:off x="932688" y="2743200"/>
            <a:ext cx="3017520" cy="365760"/>
          </a:xfrm>
          <a:prstGeom prst="rect">
            <a:avLst/>
          </a:prstGeom>
          <a:noFill/>
        </p:spPr>
        <p:txBody>
          <a:bodyPr wrap="square" lIns="0" tIns="0" rIns="0" bIns="0">
            <a:spAutoFit/>
          </a:bodyPr>
          <a:lstStyle/>
          <a:p>
            <a:pPr>
              <a:spcAft>
                <a:spcPts val="800"/>
              </a:spcAft>
              <a:defRPr sz="1800" b="0">
                <a:solidFill>
                  <a:srgbClr val="0B1F3A"/>
                </a:solidFill>
                <a:latin typeface="Aptos"/>
              </a:defRPr>
            </a:pPr>
            <a:r>
              <a:t>Applications</a:t>
            </a:r>
          </a:p>
        </p:txBody>
      </p:sp>
      <p:sp>
        <p:nvSpPr>
          <p:cNvPr id="12" name="Rounded Rectangle 11"/>
          <p:cNvSpPr/>
          <p:nvPr/>
        </p:nvSpPr>
        <p:spPr>
          <a:xfrm>
            <a:off x="4434840" y="1691640"/>
            <a:ext cx="3429000" cy="164592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34840" y="1691640"/>
            <a:ext cx="3429000" cy="54864"/>
          </a:xfrm>
          <a:prstGeom prst="rect">
            <a:avLst/>
          </a:prstGeom>
          <a:solidFill>
            <a:srgbClr val="13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36007" y="2011680"/>
            <a:ext cx="3063240" cy="594360"/>
          </a:xfrm>
          <a:prstGeom prst="rect">
            <a:avLst/>
          </a:prstGeom>
          <a:noFill/>
        </p:spPr>
        <p:txBody>
          <a:bodyPr wrap="square" lIns="0" tIns="0" rIns="0" bIns="0">
            <a:spAutoFit/>
          </a:bodyPr>
          <a:lstStyle/>
          <a:p>
            <a:pPr>
              <a:spcAft>
                <a:spcPts val="800"/>
              </a:spcAft>
              <a:defRPr sz="3100" b="1">
                <a:solidFill>
                  <a:srgbClr val="13A86B"/>
                </a:solidFill>
                <a:latin typeface="Aptos"/>
              </a:defRPr>
            </a:pPr>
            <a:r>
              <a:t>71.8%</a:t>
            </a:r>
          </a:p>
        </p:txBody>
      </p:sp>
      <p:sp>
        <p:nvSpPr>
          <p:cNvPr id="15" name="TextBox 14"/>
          <p:cNvSpPr txBox="1"/>
          <p:nvPr/>
        </p:nvSpPr>
        <p:spPr>
          <a:xfrm>
            <a:off x="4636007" y="2743200"/>
            <a:ext cx="3017520" cy="365760"/>
          </a:xfrm>
          <a:prstGeom prst="rect">
            <a:avLst/>
          </a:prstGeom>
          <a:noFill/>
        </p:spPr>
        <p:txBody>
          <a:bodyPr wrap="square" lIns="0" tIns="0" rIns="0" bIns="0">
            <a:spAutoFit/>
          </a:bodyPr>
          <a:lstStyle/>
          <a:p>
            <a:pPr>
              <a:spcAft>
                <a:spcPts val="800"/>
              </a:spcAft>
              <a:defRPr sz="1800" b="0">
                <a:solidFill>
                  <a:srgbClr val="0B1F3A"/>
                </a:solidFill>
                <a:latin typeface="Aptos"/>
              </a:defRPr>
            </a:pPr>
            <a:r>
              <a:t>Approval rate</a:t>
            </a:r>
          </a:p>
        </p:txBody>
      </p:sp>
      <p:sp>
        <p:nvSpPr>
          <p:cNvPr id="16" name="Rounded Rectangle 15"/>
          <p:cNvSpPr/>
          <p:nvPr/>
        </p:nvSpPr>
        <p:spPr>
          <a:xfrm>
            <a:off x="8138160" y="1691640"/>
            <a:ext cx="3429000" cy="164592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38160" y="1691640"/>
            <a:ext cx="3429000" cy="54864"/>
          </a:xfrm>
          <a:prstGeom prst="rect">
            <a:avLst/>
          </a:prstGeom>
          <a:solidFill>
            <a:srgbClr val="F3A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39328" y="2011680"/>
            <a:ext cx="3063240" cy="594360"/>
          </a:xfrm>
          <a:prstGeom prst="rect">
            <a:avLst/>
          </a:prstGeom>
          <a:noFill/>
        </p:spPr>
        <p:txBody>
          <a:bodyPr wrap="square" lIns="0" tIns="0" rIns="0" bIns="0">
            <a:spAutoFit/>
          </a:bodyPr>
          <a:lstStyle/>
          <a:p>
            <a:pPr>
              <a:spcAft>
                <a:spcPts val="800"/>
              </a:spcAft>
              <a:defRPr sz="3100" b="1">
                <a:solidFill>
                  <a:srgbClr val="F3A51B"/>
                </a:solidFill>
                <a:latin typeface="Aptos"/>
              </a:defRPr>
            </a:pPr>
            <a:r>
              <a:t>15 days</a:t>
            </a:r>
          </a:p>
        </p:txBody>
      </p:sp>
      <p:sp>
        <p:nvSpPr>
          <p:cNvPr id="19" name="TextBox 18"/>
          <p:cNvSpPr txBox="1"/>
          <p:nvPr/>
        </p:nvSpPr>
        <p:spPr>
          <a:xfrm>
            <a:off x="8339328" y="2743200"/>
            <a:ext cx="3017520" cy="365760"/>
          </a:xfrm>
          <a:prstGeom prst="rect">
            <a:avLst/>
          </a:prstGeom>
          <a:noFill/>
        </p:spPr>
        <p:txBody>
          <a:bodyPr wrap="square" lIns="0" tIns="0" rIns="0" bIns="0">
            <a:spAutoFit/>
          </a:bodyPr>
          <a:lstStyle/>
          <a:p>
            <a:pPr>
              <a:spcAft>
                <a:spcPts val="800"/>
              </a:spcAft>
              <a:defRPr sz="1800" b="0">
                <a:solidFill>
                  <a:srgbClr val="0B1F3A"/>
                </a:solidFill>
                <a:latin typeface="Aptos"/>
              </a:defRPr>
            </a:pPr>
            <a:r>
              <a:t>Median TAT</a:t>
            </a:r>
          </a:p>
        </p:txBody>
      </p:sp>
      <p:sp>
        <p:nvSpPr>
          <p:cNvPr id="20" name="Rounded Rectangle 19"/>
          <p:cNvSpPr/>
          <p:nvPr/>
        </p:nvSpPr>
        <p:spPr>
          <a:xfrm>
            <a:off x="731520" y="3611880"/>
            <a:ext cx="3429000" cy="164592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20" y="3611880"/>
            <a:ext cx="342900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2688" y="3931920"/>
            <a:ext cx="3063240" cy="594360"/>
          </a:xfrm>
          <a:prstGeom prst="rect">
            <a:avLst/>
          </a:prstGeom>
          <a:noFill/>
        </p:spPr>
        <p:txBody>
          <a:bodyPr wrap="square" lIns="0" tIns="0" rIns="0" bIns="0">
            <a:spAutoFit/>
          </a:bodyPr>
          <a:lstStyle/>
          <a:p>
            <a:pPr>
              <a:spcAft>
                <a:spcPts val="800"/>
              </a:spcAft>
              <a:defRPr sz="3100" b="1">
                <a:solidFill>
                  <a:srgbClr val="00A6A6"/>
                </a:solidFill>
                <a:latin typeface="Aptos"/>
              </a:defRPr>
            </a:pPr>
            <a:r>
              <a:t>BDT 4.108B</a:t>
            </a:r>
          </a:p>
        </p:txBody>
      </p:sp>
      <p:sp>
        <p:nvSpPr>
          <p:cNvPr id="23" name="TextBox 22"/>
          <p:cNvSpPr txBox="1"/>
          <p:nvPr/>
        </p:nvSpPr>
        <p:spPr>
          <a:xfrm>
            <a:off x="932688" y="4663440"/>
            <a:ext cx="3017520" cy="365760"/>
          </a:xfrm>
          <a:prstGeom prst="rect">
            <a:avLst/>
          </a:prstGeom>
          <a:noFill/>
        </p:spPr>
        <p:txBody>
          <a:bodyPr wrap="square" lIns="0" tIns="0" rIns="0" bIns="0">
            <a:spAutoFit/>
          </a:bodyPr>
          <a:lstStyle/>
          <a:p>
            <a:pPr>
              <a:spcAft>
                <a:spcPts val="800"/>
              </a:spcAft>
              <a:defRPr sz="1800" b="0">
                <a:solidFill>
                  <a:srgbClr val="0B1F3A"/>
                </a:solidFill>
                <a:latin typeface="Aptos"/>
              </a:defRPr>
            </a:pPr>
            <a:r>
              <a:t>Total disbursement</a:t>
            </a:r>
          </a:p>
        </p:txBody>
      </p:sp>
      <p:sp>
        <p:nvSpPr>
          <p:cNvPr id="24" name="Rounded Rectangle 23"/>
          <p:cNvSpPr/>
          <p:nvPr/>
        </p:nvSpPr>
        <p:spPr>
          <a:xfrm>
            <a:off x="4434840" y="3611880"/>
            <a:ext cx="3429000" cy="164592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434840" y="3611880"/>
            <a:ext cx="3429000" cy="54864"/>
          </a:xfrm>
          <a:prstGeom prst="rect">
            <a:avLst/>
          </a:prstGeom>
          <a:solidFill>
            <a:srgbClr val="1479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36007" y="3931920"/>
            <a:ext cx="3063240" cy="594360"/>
          </a:xfrm>
          <a:prstGeom prst="rect">
            <a:avLst/>
          </a:prstGeom>
          <a:noFill/>
        </p:spPr>
        <p:txBody>
          <a:bodyPr wrap="square" lIns="0" tIns="0" rIns="0" bIns="0">
            <a:spAutoFit/>
          </a:bodyPr>
          <a:lstStyle/>
          <a:p>
            <a:pPr>
              <a:spcAft>
                <a:spcPts val="800"/>
              </a:spcAft>
              <a:defRPr sz="3100" b="1">
                <a:solidFill>
                  <a:srgbClr val="1479B8"/>
                </a:solidFill>
                <a:latin typeface="Aptos"/>
              </a:defRPr>
            </a:pPr>
            <a:r>
              <a:t>BDT 1.341B</a:t>
            </a:r>
          </a:p>
        </p:txBody>
      </p:sp>
      <p:sp>
        <p:nvSpPr>
          <p:cNvPr id="27" name="TextBox 26"/>
          <p:cNvSpPr txBox="1"/>
          <p:nvPr/>
        </p:nvSpPr>
        <p:spPr>
          <a:xfrm>
            <a:off x="4636007" y="4663440"/>
            <a:ext cx="3017520" cy="365760"/>
          </a:xfrm>
          <a:prstGeom prst="rect">
            <a:avLst/>
          </a:prstGeom>
          <a:noFill/>
        </p:spPr>
        <p:txBody>
          <a:bodyPr wrap="square" lIns="0" tIns="0" rIns="0" bIns="0">
            <a:spAutoFit/>
          </a:bodyPr>
          <a:lstStyle/>
          <a:p>
            <a:pPr>
              <a:spcAft>
                <a:spcPts val="800"/>
              </a:spcAft>
              <a:defRPr sz="1800" b="0">
                <a:solidFill>
                  <a:srgbClr val="0B1F3A"/>
                </a:solidFill>
                <a:latin typeface="Aptos"/>
              </a:defRPr>
            </a:pPr>
            <a:r>
              <a:t>Active outstanding</a:t>
            </a:r>
          </a:p>
        </p:txBody>
      </p:sp>
      <p:sp>
        <p:nvSpPr>
          <p:cNvPr id="28" name="Rounded Rectangle 27"/>
          <p:cNvSpPr/>
          <p:nvPr/>
        </p:nvSpPr>
        <p:spPr>
          <a:xfrm>
            <a:off x="8138160" y="3611880"/>
            <a:ext cx="3429000" cy="164592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38160" y="3611880"/>
            <a:ext cx="3429000"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39328" y="3931920"/>
            <a:ext cx="3063240" cy="594360"/>
          </a:xfrm>
          <a:prstGeom prst="rect">
            <a:avLst/>
          </a:prstGeom>
          <a:noFill/>
        </p:spPr>
        <p:txBody>
          <a:bodyPr wrap="square" lIns="0" tIns="0" rIns="0" bIns="0">
            <a:spAutoFit/>
          </a:bodyPr>
          <a:lstStyle/>
          <a:p>
            <a:pPr>
              <a:spcAft>
                <a:spcPts val="800"/>
              </a:spcAft>
              <a:defRPr sz="3100" b="1">
                <a:solidFill>
                  <a:srgbClr val="D9534F"/>
                </a:solidFill>
                <a:latin typeface="Aptos"/>
              </a:defRPr>
            </a:pPr>
            <a:r>
              <a:t>45.1%</a:t>
            </a:r>
          </a:p>
        </p:txBody>
      </p:sp>
      <p:sp>
        <p:nvSpPr>
          <p:cNvPr id="31" name="TextBox 30"/>
          <p:cNvSpPr txBox="1"/>
          <p:nvPr/>
        </p:nvSpPr>
        <p:spPr>
          <a:xfrm>
            <a:off x="8339328" y="4663440"/>
            <a:ext cx="3017520" cy="365760"/>
          </a:xfrm>
          <a:prstGeom prst="rect">
            <a:avLst/>
          </a:prstGeom>
          <a:noFill/>
        </p:spPr>
        <p:txBody>
          <a:bodyPr wrap="square" lIns="0" tIns="0" rIns="0" bIns="0">
            <a:spAutoFit/>
          </a:bodyPr>
          <a:lstStyle/>
          <a:p>
            <a:pPr>
              <a:spcAft>
                <a:spcPts val="800"/>
              </a:spcAft>
              <a:defRPr sz="1800" b="0">
                <a:solidFill>
                  <a:srgbClr val="0B1F3A"/>
                </a:solidFill>
                <a:latin typeface="Aptos"/>
              </a:defRPr>
            </a:pPr>
            <a:r>
              <a:t>PAR30</a:t>
            </a:r>
          </a:p>
        </p:txBody>
      </p:sp>
      <p:sp>
        <p:nvSpPr>
          <p:cNvPr id="32" name="TextBox 31"/>
          <p:cNvSpPr txBox="1"/>
          <p:nvPr/>
        </p:nvSpPr>
        <p:spPr>
          <a:xfrm>
            <a:off x="777240" y="5833872"/>
            <a:ext cx="10515600" cy="320040"/>
          </a:xfrm>
          <a:prstGeom prst="rect">
            <a:avLst/>
          </a:prstGeom>
          <a:noFill/>
        </p:spPr>
        <p:txBody>
          <a:bodyPr wrap="square" lIns="0" tIns="0" rIns="0" bIns="0">
            <a:spAutoFit/>
          </a:bodyPr>
          <a:lstStyle/>
          <a:p>
            <a:pPr>
              <a:spcAft>
                <a:spcPts val="800"/>
              </a:spcAft>
              <a:defRPr sz="1600" b="0">
                <a:solidFill>
                  <a:srgbClr val="64748B"/>
                </a:solidFill>
                <a:latin typeface="Aptos"/>
              </a:defRPr>
            </a:pPr>
            <a:r>
              <a:t>Approval rate = Approved / (Approved + Rejected)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Application Demand &amp; Decision Outcomes</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Approved applications dominate the decided portfolio; volume is a separate question.</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pp. 8, 17</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07</a:t>
            </a:r>
          </a:p>
        </p:txBody>
      </p:sp>
      <p:sp>
        <p:nvSpPr>
          <p:cNvPr id="8" name="TextBox 7"/>
          <p:cNvSpPr txBox="1"/>
          <p:nvPr/>
        </p:nvSpPr>
        <p:spPr>
          <a:xfrm>
            <a:off x="822960" y="1645920"/>
            <a:ext cx="6400800" cy="365760"/>
          </a:xfrm>
          <a:prstGeom prst="rect">
            <a:avLst/>
          </a:prstGeom>
          <a:noFill/>
        </p:spPr>
        <p:txBody>
          <a:bodyPr wrap="square" lIns="0" tIns="0" rIns="0" bIns="0">
            <a:spAutoFit/>
          </a:bodyPr>
          <a:lstStyle/>
          <a:p>
            <a:pPr>
              <a:spcAft>
                <a:spcPts val="800"/>
              </a:spcAft>
              <a:defRPr sz="1900" b="1">
                <a:solidFill>
                  <a:srgbClr val="0B1F3A"/>
                </a:solidFill>
                <a:latin typeface="Aptos"/>
              </a:defRPr>
            </a:pPr>
            <a:r>
              <a:t>Application status · count</a:t>
            </a:r>
          </a:p>
        </p:txBody>
      </p:sp>
      <p:graphicFrame>
        <p:nvGraphicFramePr>
          <p:cNvPr id="9" name="Chart 8"/>
          <p:cNvGraphicFramePr>
            <a:graphicFrameLocks noGrp="1"/>
          </p:cNvGraphicFramePr>
          <p:nvPr/>
        </p:nvGraphicFramePr>
        <p:xfrm>
          <a:off x="594360" y="2148840"/>
          <a:ext cx="690372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10" name="Rounded Rectangle 9"/>
          <p:cNvSpPr/>
          <p:nvPr/>
        </p:nvSpPr>
        <p:spPr>
          <a:xfrm>
            <a:off x="7863840" y="1691640"/>
            <a:ext cx="3520440" cy="109728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863840" y="1691640"/>
            <a:ext cx="50292" cy="1097280"/>
          </a:xfrm>
          <a:prstGeom prst="rect">
            <a:avLst/>
          </a:prstGeom>
          <a:solidFill>
            <a:srgbClr val="13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28431" y="1819656"/>
            <a:ext cx="3200400" cy="347472"/>
          </a:xfrm>
          <a:prstGeom prst="rect">
            <a:avLst/>
          </a:prstGeom>
          <a:noFill/>
        </p:spPr>
        <p:txBody>
          <a:bodyPr wrap="square" lIns="0" tIns="0" rIns="0" bIns="0">
            <a:spAutoFit/>
          </a:bodyPr>
          <a:lstStyle/>
          <a:p>
            <a:pPr>
              <a:spcAft>
                <a:spcPts val="800"/>
              </a:spcAft>
              <a:defRPr sz="1900" b="1">
                <a:solidFill>
                  <a:srgbClr val="13A86B"/>
                </a:solidFill>
                <a:latin typeface="Aptos"/>
              </a:defRPr>
            </a:pPr>
            <a:r>
              <a:t>71.8% approval rate</a:t>
            </a:r>
          </a:p>
        </p:txBody>
      </p:sp>
      <p:sp>
        <p:nvSpPr>
          <p:cNvPr id="13" name="TextBox 12"/>
          <p:cNvSpPr txBox="1"/>
          <p:nvPr/>
        </p:nvSpPr>
        <p:spPr>
          <a:xfrm>
            <a:off x="8028431" y="2212848"/>
            <a:ext cx="3200400" cy="566928"/>
          </a:xfrm>
          <a:prstGeom prst="rect">
            <a:avLst/>
          </a:prstGeom>
          <a:noFill/>
        </p:spPr>
        <p:txBody>
          <a:bodyPr wrap="square" lIns="0" tIns="0" rIns="0" bIns="0">
            <a:spAutoFit/>
          </a:bodyPr>
          <a:lstStyle/>
          <a:p>
            <a:pPr>
              <a:spcAft>
                <a:spcPts val="800"/>
              </a:spcAft>
              <a:defRPr sz="1500" b="0">
                <a:solidFill>
                  <a:srgbClr val="20252B"/>
                </a:solidFill>
                <a:latin typeface="Aptos"/>
              </a:defRPr>
            </a:pPr>
            <a:r>
              <a:t>1,004 / (1,004 + 394)</a:t>
            </a:r>
          </a:p>
        </p:txBody>
      </p:sp>
      <p:sp>
        <p:nvSpPr>
          <p:cNvPr id="14" name="Rounded Rectangle 13"/>
          <p:cNvSpPr/>
          <p:nvPr/>
        </p:nvSpPr>
        <p:spPr>
          <a:xfrm>
            <a:off x="7863840" y="3017520"/>
            <a:ext cx="3520440" cy="114300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863840" y="3017520"/>
            <a:ext cx="50292" cy="1143000"/>
          </a:xfrm>
          <a:prstGeom prst="rect">
            <a:avLst/>
          </a:prstGeom>
          <a:solidFill>
            <a:srgbClr val="1479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28431" y="3145536"/>
            <a:ext cx="3200400" cy="347472"/>
          </a:xfrm>
          <a:prstGeom prst="rect">
            <a:avLst/>
          </a:prstGeom>
          <a:noFill/>
        </p:spPr>
        <p:txBody>
          <a:bodyPr wrap="square" lIns="0" tIns="0" rIns="0" bIns="0">
            <a:spAutoFit/>
          </a:bodyPr>
          <a:lstStyle/>
          <a:p>
            <a:pPr>
              <a:spcAft>
                <a:spcPts val="800"/>
              </a:spcAft>
              <a:defRPr sz="1900" b="1">
                <a:solidFill>
                  <a:srgbClr val="1479B8"/>
                </a:solidFill>
                <a:latin typeface="Aptos"/>
              </a:defRPr>
            </a:pPr>
            <a:r>
              <a:t>Gulshan: 316 applications</a:t>
            </a:r>
          </a:p>
        </p:txBody>
      </p:sp>
      <p:sp>
        <p:nvSpPr>
          <p:cNvPr id="17" name="TextBox 16"/>
          <p:cNvSpPr txBox="1"/>
          <p:nvPr/>
        </p:nvSpPr>
        <p:spPr>
          <a:xfrm>
            <a:off x="8028431" y="3538727"/>
            <a:ext cx="3200400" cy="612648"/>
          </a:xfrm>
          <a:prstGeom prst="rect">
            <a:avLst/>
          </a:prstGeom>
          <a:noFill/>
        </p:spPr>
        <p:txBody>
          <a:bodyPr wrap="square" lIns="0" tIns="0" rIns="0" bIns="0">
            <a:spAutoFit/>
          </a:bodyPr>
          <a:lstStyle/>
          <a:p>
            <a:pPr>
              <a:spcAft>
                <a:spcPts val="800"/>
              </a:spcAft>
              <a:defRPr sz="1500" b="0">
                <a:solidFill>
                  <a:srgbClr val="20252B"/>
                </a:solidFill>
                <a:latin typeface="Aptos"/>
              </a:defRPr>
            </a:pPr>
            <a:r>
              <a:t>Highest branch application volume</a:t>
            </a:r>
          </a:p>
        </p:txBody>
      </p:sp>
      <p:sp>
        <p:nvSpPr>
          <p:cNvPr id="18" name="Rounded Rectangle 17"/>
          <p:cNvSpPr/>
          <p:nvPr/>
        </p:nvSpPr>
        <p:spPr>
          <a:xfrm>
            <a:off x="7863840" y="4389120"/>
            <a:ext cx="3520440" cy="114300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863840" y="4389120"/>
            <a:ext cx="50292" cy="114300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28431" y="4517136"/>
            <a:ext cx="3200400"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Retail: 345 applications</a:t>
            </a:r>
          </a:p>
        </p:txBody>
      </p:sp>
      <p:sp>
        <p:nvSpPr>
          <p:cNvPr id="21" name="TextBox 20"/>
          <p:cNvSpPr txBox="1"/>
          <p:nvPr/>
        </p:nvSpPr>
        <p:spPr>
          <a:xfrm>
            <a:off x="8028431" y="4910328"/>
            <a:ext cx="3200400" cy="612648"/>
          </a:xfrm>
          <a:prstGeom prst="rect">
            <a:avLst/>
          </a:prstGeom>
          <a:noFill/>
        </p:spPr>
        <p:txBody>
          <a:bodyPr wrap="square" lIns="0" tIns="0" rIns="0" bIns="0">
            <a:spAutoFit/>
          </a:bodyPr>
          <a:lstStyle/>
          <a:p>
            <a:pPr>
              <a:spcAft>
                <a:spcPts val="800"/>
              </a:spcAft>
              <a:defRPr sz="1500" b="0">
                <a:solidFill>
                  <a:srgbClr val="20252B"/>
                </a:solidFill>
                <a:latin typeface="Aptos"/>
              </a:defRPr>
            </a:pPr>
            <a:r>
              <a:t>Highest sector application volume</a:t>
            </a:r>
          </a:p>
        </p:txBody>
      </p:sp>
      <p:sp>
        <p:nvSpPr>
          <p:cNvPr id="22" name="TextBox 21"/>
          <p:cNvSpPr txBox="1"/>
          <p:nvPr/>
        </p:nvSpPr>
        <p:spPr>
          <a:xfrm>
            <a:off x="822960" y="5806440"/>
            <a:ext cx="10698480" cy="365760"/>
          </a:xfrm>
          <a:prstGeom prst="rect">
            <a:avLst/>
          </a:prstGeom>
          <a:noFill/>
        </p:spPr>
        <p:txBody>
          <a:bodyPr wrap="square" lIns="0" tIns="0" rIns="0" bIns="0">
            <a:spAutoFit/>
          </a:bodyPr>
          <a:lstStyle/>
          <a:p>
            <a:pPr>
              <a:spcAft>
                <a:spcPts val="800"/>
              </a:spcAft>
              <a:defRPr sz="1700" b="0">
                <a:solidFill>
                  <a:srgbClr val="64748B"/>
                </a:solidFill>
                <a:latin typeface="Aptos"/>
              </a:defRPr>
            </a:pPr>
            <a:r>
              <a:t>Volume and approval rates describe different dimensions of demand and decision-making.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Where Does the Application Process Slow Down?</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Stage-level analysis gives a more actionable starting point than overall TAT alone.</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pp. 8, 10</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08</a:t>
            </a:r>
          </a:p>
        </p:txBody>
      </p:sp>
      <p:pic>
        <p:nvPicPr>
          <p:cNvPr id="8" name="Picture 7" descr="p1_3.png"/>
          <p:cNvPicPr>
            <a:picLocks noChangeAspect="1"/>
          </p:cNvPicPr>
          <p:nvPr/>
        </p:nvPicPr>
        <p:blipFill>
          <a:blip r:embed="rId3"/>
          <a:stretch>
            <a:fillRect/>
          </a:stretch>
        </p:blipFill>
        <p:spPr>
          <a:xfrm>
            <a:off x="685800" y="1910715"/>
            <a:ext cx="5212079" cy="3402330"/>
          </a:xfrm>
          <a:prstGeom prst="rect">
            <a:avLst/>
          </a:prstGeom>
        </p:spPr>
      </p:pic>
      <p:sp>
        <p:nvSpPr>
          <p:cNvPr id="9" name="TextBox 8"/>
          <p:cNvSpPr txBox="1"/>
          <p:nvPr/>
        </p:nvSpPr>
        <p:spPr>
          <a:xfrm>
            <a:off x="6126480" y="1645920"/>
            <a:ext cx="5303520" cy="320040"/>
          </a:xfrm>
          <a:prstGeom prst="rect">
            <a:avLst/>
          </a:prstGeom>
          <a:noFill/>
        </p:spPr>
        <p:txBody>
          <a:bodyPr wrap="square" lIns="0" tIns="0" rIns="0" bIns="0">
            <a:spAutoFit/>
          </a:bodyPr>
          <a:lstStyle/>
          <a:p>
            <a:pPr>
              <a:spcAft>
                <a:spcPts val="800"/>
              </a:spcAft>
              <a:defRPr sz="1800" b="1">
                <a:solidFill>
                  <a:srgbClr val="0B1F3A"/>
                </a:solidFill>
                <a:latin typeface="Aptos"/>
              </a:defRPr>
            </a:pPr>
            <a:r>
              <a:t>Average stage duration · days</a:t>
            </a:r>
          </a:p>
        </p:txBody>
      </p:sp>
      <p:graphicFrame>
        <p:nvGraphicFramePr>
          <p:cNvPr id="10" name="Chart 9"/>
          <p:cNvGraphicFramePr>
            <a:graphicFrameLocks noGrp="1"/>
          </p:cNvGraphicFramePr>
          <p:nvPr/>
        </p:nvGraphicFramePr>
        <p:xfrm>
          <a:off x="5897880" y="2103120"/>
          <a:ext cx="557784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p:cNvSpPr txBox="1"/>
          <p:nvPr/>
        </p:nvSpPr>
        <p:spPr>
          <a:xfrm>
            <a:off x="822960" y="5669280"/>
            <a:ext cx="10698480" cy="384048"/>
          </a:xfrm>
          <a:prstGeom prst="rect">
            <a:avLst/>
          </a:prstGeom>
          <a:noFill/>
        </p:spPr>
        <p:txBody>
          <a:bodyPr wrap="square" lIns="0" tIns="0" rIns="0" bIns="0">
            <a:spAutoFit/>
          </a:bodyPr>
          <a:lstStyle/>
          <a:p>
            <a:pPr>
              <a:spcAft>
                <a:spcPts val="800"/>
              </a:spcAft>
              <a:defRPr sz="2000" b="1">
                <a:solidFill>
                  <a:srgbClr val="0B1F3A"/>
                </a:solidFill>
                <a:latin typeface="Aptos"/>
              </a:defRPr>
            </a:pPr>
            <a:r>
              <a:t>Median TAT  15 days     |     Mean TAT  14.07 days     |     P90  19 days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Monitoring Portfolio Deterioration</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Assess delinquency severity together with the money at risk.</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pp. 9, 20</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09</a:t>
            </a:r>
          </a:p>
        </p:txBody>
      </p:sp>
      <p:sp>
        <p:nvSpPr>
          <p:cNvPr id="8" name="Rounded Rectangle 7"/>
          <p:cNvSpPr/>
          <p:nvPr/>
        </p:nvSpPr>
        <p:spPr>
          <a:xfrm>
            <a:off x="731520" y="1691640"/>
            <a:ext cx="3154680" cy="118872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691640"/>
            <a:ext cx="50292" cy="118872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1819656"/>
            <a:ext cx="2834640" cy="347472"/>
          </a:xfrm>
          <a:prstGeom prst="rect">
            <a:avLst/>
          </a:prstGeom>
          <a:noFill/>
        </p:spPr>
        <p:txBody>
          <a:bodyPr wrap="square" lIns="0" tIns="0" rIns="0" bIns="0">
            <a:spAutoFit/>
          </a:bodyPr>
          <a:lstStyle/>
          <a:p>
            <a:pPr>
              <a:spcAft>
                <a:spcPts val="800"/>
              </a:spcAft>
              <a:defRPr sz="1900" b="1">
                <a:solidFill>
                  <a:srgbClr val="D9534F"/>
                </a:solidFill>
                <a:latin typeface="Aptos"/>
              </a:defRPr>
            </a:pPr>
            <a:r>
              <a:t>45.1% PAR30</a:t>
            </a:r>
          </a:p>
        </p:txBody>
      </p:sp>
      <p:sp>
        <p:nvSpPr>
          <p:cNvPr id="11" name="TextBox 10"/>
          <p:cNvSpPr txBox="1"/>
          <p:nvPr/>
        </p:nvSpPr>
        <p:spPr>
          <a:xfrm>
            <a:off x="896112" y="2212848"/>
            <a:ext cx="2834640" cy="658368"/>
          </a:xfrm>
          <a:prstGeom prst="rect">
            <a:avLst/>
          </a:prstGeom>
          <a:noFill/>
        </p:spPr>
        <p:txBody>
          <a:bodyPr wrap="square" lIns="0" tIns="0" rIns="0" bIns="0">
            <a:spAutoFit/>
          </a:bodyPr>
          <a:lstStyle/>
          <a:p>
            <a:pPr>
              <a:spcAft>
                <a:spcPts val="800"/>
              </a:spcAft>
              <a:defRPr sz="1500" b="0">
                <a:solidFill>
                  <a:srgbClr val="20252B"/>
                </a:solidFill>
                <a:latin typeface="Aptos"/>
              </a:defRPr>
            </a:pPr>
            <a:r>
              <a:t>Active exposure with DPD ≥ 30</a:t>
            </a:r>
          </a:p>
        </p:txBody>
      </p:sp>
      <p:sp>
        <p:nvSpPr>
          <p:cNvPr id="12" name="Rounded Rectangle 11"/>
          <p:cNvSpPr/>
          <p:nvPr/>
        </p:nvSpPr>
        <p:spPr>
          <a:xfrm>
            <a:off x="731520" y="3154680"/>
            <a:ext cx="3154680" cy="118872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154680"/>
            <a:ext cx="50292" cy="1188720"/>
          </a:xfrm>
          <a:prstGeom prst="rect">
            <a:avLst/>
          </a:prstGeom>
          <a:solidFill>
            <a:srgbClr val="F3A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6112" y="3282696"/>
            <a:ext cx="2834640" cy="347472"/>
          </a:xfrm>
          <a:prstGeom prst="rect">
            <a:avLst/>
          </a:prstGeom>
          <a:noFill/>
        </p:spPr>
        <p:txBody>
          <a:bodyPr wrap="square" lIns="0" tIns="0" rIns="0" bIns="0">
            <a:spAutoFit/>
          </a:bodyPr>
          <a:lstStyle/>
          <a:p>
            <a:pPr>
              <a:spcAft>
                <a:spcPts val="800"/>
              </a:spcAft>
              <a:defRPr sz="1900" b="1">
                <a:solidFill>
                  <a:srgbClr val="F3A51B"/>
                </a:solidFill>
                <a:latin typeface="Aptos"/>
              </a:defRPr>
            </a:pPr>
            <a:r>
              <a:t>12.35% PAR90</a:t>
            </a:r>
          </a:p>
        </p:txBody>
      </p:sp>
      <p:sp>
        <p:nvSpPr>
          <p:cNvPr id="15" name="TextBox 14"/>
          <p:cNvSpPr txBox="1"/>
          <p:nvPr/>
        </p:nvSpPr>
        <p:spPr>
          <a:xfrm>
            <a:off x="896112" y="3675888"/>
            <a:ext cx="2834640" cy="658368"/>
          </a:xfrm>
          <a:prstGeom prst="rect">
            <a:avLst/>
          </a:prstGeom>
          <a:noFill/>
        </p:spPr>
        <p:txBody>
          <a:bodyPr wrap="square" lIns="0" tIns="0" rIns="0" bIns="0">
            <a:spAutoFit/>
          </a:bodyPr>
          <a:lstStyle/>
          <a:p>
            <a:pPr>
              <a:spcAft>
                <a:spcPts val="800"/>
              </a:spcAft>
              <a:defRPr sz="1500" b="0">
                <a:solidFill>
                  <a:srgbClr val="20252B"/>
                </a:solidFill>
                <a:latin typeface="Aptos"/>
              </a:defRPr>
            </a:pPr>
            <a:r>
              <a:t>Active exposure with DPD ≥ 90</a:t>
            </a:r>
          </a:p>
        </p:txBody>
      </p:sp>
      <p:sp>
        <p:nvSpPr>
          <p:cNvPr id="16" name="TextBox 15"/>
          <p:cNvSpPr txBox="1"/>
          <p:nvPr/>
        </p:nvSpPr>
        <p:spPr>
          <a:xfrm>
            <a:off x="777240" y="4754880"/>
            <a:ext cx="3337560" cy="960120"/>
          </a:xfrm>
          <a:prstGeom prst="rect">
            <a:avLst/>
          </a:prstGeom>
          <a:noFill/>
        </p:spPr>
        <p:txBody>
          <a:bodyPr wrap="square" lIns="0" tIns="0" rIns="0" bIns="0">
            <a:spAutoFit/>
          </a:bodyPr>
          <a:lstStyle/>
          <a:p>
            <a:pPr>
              <a:spcAft>
                <a:spcPts val="800"/>
              </a:spcAft>
              <a:defRPr sz="1800" b="0">
                <a:solidFill>
                  <a:srgbClr val="0B1F3A"/>
                </a:solidFill>
                <a:latin typeface="Aptos"/>
              </a:defRPr>
            </a:pPr>
            <a:r>
              <a:t>995 disbursed loans</a:t>
            </a:r>
          </a:p>
          <a:p>
            <a:pPr>
              <a:spcAft>
                <a:spcPts val="800"/>
              </a:spcAft>
              <a:defRPr sz="1800" b="0">
                <a:solidFill>
                  <a:srgbClr val="0B1F3A"/>
                </a:solidFill>
                <a:latin typeface="Aptos"/>
              </a:defRPr>
            </a:pPr>
            <a:r>
              <a:t>BDT 4.13M average loan size</a:t>
            </a:r>
          </a:p>
        </p:txBody>
      </p:sp>
      <p:sp>
        <p:nvSpPr>
          <p:cNvPr id="17" name="TextBox 16"/>
          <p:cNvSpPr txBox="1"/>
          <p:nvPr/>
        </p:nvSpPr>
        <p:spPr>
          <a:xfrm>
            <a:off x="4343400" y="1691640"/>
            <a:ext cx="7132320" cy="365760"/>
          </a:xfrm>
          <a:prstGeom prst="rect">
            <a:avLst/>
          </a:prstGeom>
          <a:noFill/>
        </p:spPr>
        <p:txBody>
          <a:bodyPr wrap="square" lIns="0" tIns="0" rIns="0" bIns="0">
            <a:spAutoFit/>
          </a:bodyPr>
          <a:lstStyle/>
          <a:p>
            <a:pPr>
              <a:spcAft>
                <a:spcPts val="800"/>
              </a:spcAft>
              <a:defRPr sz="1800" b="1">
                <a:solidFill>
                  <a:srgbClr val="0B1F3A"/>
                </a:solidFill>
                <a:latin typeface="Aptos"/>
              </a:defRPr>
            </a:pPr>
            <a:r>
              <a:t>Outstanding exposure by DPD bucket · BDT million</a:t>
            </a:r>
          </a:p>
        </p:txBody>
      </p:sp>
      <p:graphicFrame>
        <p:nvGraphicFramePr>
          <p:cNvPr id="18" name="Chart 17"/>
          <p:cNvGraphicFramePr>
            <a:graphicFrameLocks noGrp="1"/>
          </p:cNvGraphicFramePr>
          <p:nvPr/>
        </p:nvGraphicFramePr>
        <p:xfrm>
          <a:off x="4206240" y="2194560"/>
          <a:ext cx="722376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18"/>
          <p:cNvSpPr txBox="1"/>
          <p:nvPr/>
        </p:nvSpPr>
        <p:spPr>
          <a:xfrm>
            <a:off x="777240" y="5806440"/>
            <a:ext cx="10607040" cy="365760"/>
          </a:xfrm>
          <a:prstGeom prst="rect">
            <a:avLst/>
          </a:prstGeom>
          <a:noFill/>
        </p:spPr>
        <p:txBody>
          <a:bodyPr wrap="square" lIns="0" tIns="0" rIns="0" bIns="0">
            <a:spAutoFit/>
          </a:bodyPr>
          <a:lstStyle/>
          <a:p>
            <a:pPr>
              <a:spcAft>
                <a:spcPts val="800"/>
              </a:spcAft>
              <a:defRPr sz="1300" b="0">
                <a:solidFill>
                  <a:srgbClr val="64748B"/>
                </a:solidFill>
                <a:latin typeface="Aptos"/>
              </a:defRPr>
            </a:pPr>
            <a:r>
              <a:t>Bucket labels follow the report; PAR thresholds use ≥30 / ≥90 and cannot be inferred from these bands.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Exposure and Risk Are Not the Same Thing</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Compare the amount outstanding with the proportion delinquent.</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pp. 11, 18</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10</a:t>
            </a:r>
          </a:p>
        </p:txBody>
      </p:sp>
      <p:pic>
        <p:nvPicPr>
          <p:cNvPr id="8" name="Picture 7" descr="p1_4.png"/>
          <p:cNvPicPr>
            <a:picLocks noChangeAspect="1"/>
          </p:cNvPicPr>
          <p:nvPr/>
        </p:nvPicPr>
        <p:blipFill>
          <a:blip r:embed="rId3"/>
          <a:stretch>
            <a:fillRect/>
          </a:stretch>
        </p:blipFill>
        <p:spPr>
          <a:xfrm>
            <a:off x="640080" y="1792287"/>
            <a:ext cx="5715000" cy="3730624"/>
          </a:xfrm>
          <a:prstGeom prst="rect">
            <a:avLst/>
          </a:prstGeom>
        </p:spPr>
      </p:pic>
      <p:sp>
        <p:nvSpPr>
          <p:cNvPr id="9" name="TextBox 8"/>
          <p:cNvSpPr txBox="1"/>
          <p:nvPr/>
        </p:nvSpPr>
        <p:spPr>
          <a:xfrm>
            <a:off x="6629400" y="1691640"/>
            <a:ext cx="4663440" cy="365760"/>
          </a:xfrm>
          <a:prstGeom prst="rect">
            <a:avLst/>
          </a:prstGeom>
          <a:noFill/>
        </p:spPr>
        <p:txBody>
          <a:bodyPr wrap="square" lIns="0" tIns="0" rIns="0" bIns="0">
            <a:spAutoFit/>
          </a:bodyPr>
          <a:lstStyle/>
          <a:p>
            <a:pPr>
              <a:spcAft>
                <a:spcPts val="800"/>
              </a:spcAft>
              <a:defRPr sz="1800" b="1">
                <a:solidFill>
                  <a:srgbClr val="0B1F3A"/>
                </a:solidFill>
                <a:latin typeface="Aptos"/>
              </a:defRPr>
            </a:pPr>
            <a:r>
              <a:t>Largest reported sector exposures</a:t>
            </a:r>
          </a:p>
        </p:txBody>
      </p:sp>
      <p:graphicFrame>
        <p:nvGraphicFramePr>
          <p:cNvPr id="10" name="Chart 9"/>
          <p:cNvGraphicFramePr>
            <a:graphicFrameLocks noGrp="1"/>
          </p:cNvGraphicFramePr>
          <p:nvPr/>
        </p:nvGraphicFramePr>
        <p:xfrm>
          <a:off x="6537960" y="2286000"/>
          <a:ext cx="4937760" cy="18288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p:cNvSpPr txBox="1"/>
          <p:nvPr/>
        </p:nvSpPr>
        <p:spPr>
          <a:xfrm>
            <a:off x="6720840" y="4160520"/>
            <a:ext cx="4572000" cy="320040"/>
          </a:xfrm>
          <a:prstGeom prst="rect">
            <a:avLst/>
          </a:prstGeom>
          <a:noFill/>
        </p:spPr>
        <p:txBody>
          <a:bodyPr wrap="square" lIns="0" tIns="0" rIns="0" bIns="0">
            <a:spAutoFit/>
          </a:bodyPr>
          <a:lstStyle/>
          <a:p>
            <a:pPr>
              <a:spcAft>
                <a:spcPts val="800"/>
              </a:spcAft>
              <a:defRPr sz="1300" b="0">
                <a:solidFill>
                  <a:srgbClr val="64748B"/>
                </a:solidFill>
                <a:latin typeface="Aptos"/>
              </a:defRPr>
            </a:pPr>
            <a:r>
              <a:t>BDT million · selected sectors only</a:t>
            </a:r>
          </a:p>
        </p:txBody>
      </p:sp>
      <p:sp>
        <p:nvSpPr>
          <p:cNvPr id="12" name="Rounded Rectangle 11"/>
          <p:cNvSpPr/>
          <p:nvPr/>
        </p:nvSpPr>
        <p:spPr>
          <a:xfrm>
            <a:off x="6629400" y="4663440"/>
            <a:ext cx="4617720" cy="114300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629400" y="4663440"/>
            <a:ext cx="50292" cy="1143000"/>
          </a:xfrm>
          <a:prstGeom prst="rect">
            <a:avLst/>
          </a:prstGeom>
          <a:solidFill>
            <a:srgbClr val="1479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93992" y="4791455"/>
            <a:ext cx="4297680" cy="347472"/>
          </a:xfrm>
          <a:prstGeom prst="rect">
            <a:avLst/>
          </a:prstGeom>
          <a:noFill/>
        </p:spPr>
        <p:txBody>
          <a:bodyPr wrap="square" lIns="0" tIns="0" rIns="0" bIns="0">
            <a:spAutoFit/>
          </a:bodyPr>
          <a:lstStyle/>
          <a:p>
            <a:pPr>
              <a:spcAft>
                <a:spcPts val="800"/>
              </a:spcAft>
              <a:defRPr sz="1900" b="1">
                <a:solidFill>
                  <a:srgbClr val="1479B8"/>
                </a:solidFill>
                <a:latin typeface="Aptos"/>
              </a:defRPr>
            </a:pPr>
            <a:r>
              <a:t>Retail: 23.8% of active exposure</a:t>
            </a:r>
          </a:p>
        </p:txBody>
      </p:sp>
      <p:sp>
        <p:nvSpPr>
          <p:cNvPr id="15" name="TextBox 14"/>
          <p:cNvSpPr txBox="1"/>
          <p:nvPr/>
        </p:nvSpPr>
        <p:spPr>
          <a:xfrm>
            <a:off x="7027164" y="5160690"/>
            <a:ext cx="4297680" cy="612648"/>
          </a:xfrm>
          <a:prstGeom prst="rect">
            <a:avLst/>
          </a:prstGeom>
          <a:noFill/>
        </p:spPr>
        <p:txBody>
          <a:bodyPr wrap="square" lIns="0" tIns="0" rIns="0" bIns="0">
            <a:spAutoFit/>
          </a:bodyPr>
          <a:lstStyle/>
          <a:p>
            <a:pPr>
              <a:spcAft>
                <a:spcPts val="800"/>
              </a:spcAft>
              <a:defRPr sz="1500" b="0">
                <a:solidFill>
                  <a:srgbClr val="20252B"/>
                </a:solidFill>
                <a:latin typeface="Aptos"/>
              </a:defRPr>
            </a:pPr>
            <a:r>
              <a:t>PAR30 ≈ 43.7%</a:t>
            </a:r>
          </a:p>
          <a:p>
            <a:pPr>
              <a:spcAft>
                <a:spcPts val="800"/>
              </a:spcAft>
              <a:defRPr sz="1500" b="0">
                <a:solidFill>
                  <a:srgbClr val="20252B"/>
                </a:solidFill>
                <a:latin typeface="Aptos"/>
              </a:defRPr>
            </a:pPr>
            <a:r>
              <a:t>Compare amount with risk rate.</a:t>
            </a:r>
          </a:p>
        </p:txBody>
      </p:sp>
      <p:sp>
        <p:nvSpPr>
          <p:cNvPr id="16" name="TextBox 15"/>
          <p:cNvSpPr txBox="1"/>
          <p:nvPr/>
        </p:nvSpPr>
        <p:spPr>
          <a:xfrm>
            <a:off x="777240" y="5852160"/>
            <a:ext cx="10698480" cy="320040"/>
          </a:xfrm>
          <a:prstGeom prst="rect">
            <a:avLst/>
          </a:prstGeom>
          <a:noFill/>
        </p:spPr>
        <p:txBody>
          <a:bodyPr wrap="square" lIns="0" tIns="0" rIns="0" bIns="0">
            <a:spAutoFit/>
          </a:bodyPr>
          <a:lstStyle/>
          <a:p>
            <a:pPr>
              <a:spcAft>
                <a:spcPts val="800"/>
              </a:spcAft>
              <a:defRPr sz="1700" b="1">
                <a:solidFill>
                  <a:srgbClr val="0B1F3A"/>
                </a:solidFill>
                <a:latin typeface="Aptos"/>
              </a:defRPr>
            </a:pPr>
            <a:r>
              <a:t>Highest PAR30: Food &amp; Beverage ≈ 73.2%  •  Wholesale ≈ 61.7%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Moving Beyond Descriptive Reporting</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Borrower relationships are investigated with charts and statistical tests.</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pp. 11–13</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11</a:t>
            </a:r>
          </a:p>
        </p:txBody>
      </p:sp>
      <p:pic>
        <p:nvPicPr>
          <p:cNvPr id="8" name="Picture 7" descr="p1_6.png"/>
          <p:cNvPicPr>
            <a:picLocks noChangeAspect="1"/>
          </p:cNvPicPr>
          <p:nvPr/>
        </p:nvPicPr>
        <p:blipFill>
          <a:blip r:embed="rId3"/>
          <a:stretch>
            <a:fillRect/>
          </a:stretch>
        </p:blipFill>
        <p:spPr>
          <a:xfrm>
            <a:off x="731520" y="1727835"/>
            <a:ext cx="5212079" cy="3402330"/>
          </a:xfrm>
          <a:prstGeom prst="rect">
            <a:avLst/>
          </a:prstGeom>
        </p:spPr>
      </p:pic>
      <p:pic>
        <p:nvPicPr>
          <p:cNvPr id="9" name="Picture 8" descr="p1_5.png"/>
          <p:cNvPicPr>
            <a:picLocks noChangeAspect="1"/>
          </p:cNvPicPr>
          <p:nvPr/>
        </p:nvPicPr>
        <p:blipFill>
          <a:blip r:embed="rId4"/>
          <a:stretch>
            <a:fillRect/>
          </a:stretch>
        </p:blipFill>
        <p:spPr>
          <a:xfrm>
            <a:off x="6263640" y="1742757"/>
            <a:ext cx="5166360" cy="3372485"/>
          </a:xfrm>
          <a:prstGeom prst="rect">
            <a:avLst/>
          </a:prstGeom>
        </p:spPr>
      </p:pic>
      <p:sp>
        <p:nvSpPr>
          <p:cNvPr id="10" name="TextBox 9"/>
          <p:cNvSpPr txBox="1"/>
          <p:nvPr/>
        </p:nvSpPr>
        <p:spPr>
          <a:xfrm>
            <a:off x="822960" y="5212080"/>
            <a:ext cx="5029200" cy="777240"/>
          </a:xfrm>
          <a:prstGeom prst="rect">
            <a:avLst/>
          </a:prstGeom>
          <a:noFill/>
        </p:spPr>
        <p:txBody>
          <a:bodyPr wrap="square" lIns="0" tIns="0" rIns="0" bIns="0">
            <a:spAutoFit/>
          </a:bodyPr>
          <a:lstStyle/>
          <a:p>
            <a:pPr>
              <a:spcAft>
                <a:spcPts val="800"/>
              </a:spcAft>
              <a:defRPr sz="1800" b="1">
                <a:solidFill>
                  <a:srgbClr val="1479B8"/>
                </a:solidFill>
                <a:latin typeface="Aptos"/>
              </a:defRPr>
            </a:pPr>
            <a:r>
              <a:t>Revenue × loan request</a:t>
            </a:r>
          </a:p>
          <a:p>
            <a:pPr>
              <a:spcAft>
                <a:spcPts val="800"/>
              </a:spcAft>
              <a:defRPr sz="1800" b="1">
                <a:solidFill>
                  <a:srgbClr val="1479B8"/>
                </a:solidFill>
                <a:latin typeface="Aptos"/>
              </a:defRPr>
            </a:pPr>
            <a:r>
              <a:t>r ≈ 0.822; p &lt; 0.001</a:t>
            </a:r>
          </a:p>
        </p:txBody>
      </p:sp>
      <p:sp>
        <p:nvSpPr>
          <p:cNvPr id="11" name="TextBox 10"/>
          <p:cNvSpPr txBox="1"/>
          <p:nvPr/>
        </p:nvSpPr>
        <p:spPr>
          <a:xfrm>
            <a:off x="6355080" y="5212080"/>
            <a:ext cx="5029200" cy="777240"/>
          </a:xfrm>
          <a:prstGeom prst="rect">
            <a:avLst/>
          </a:prstGeom>
          <a:noFill/>
        </p:spPr>
        <p:txBody>
          <a:bodyPr wrap="square" lIns="0" tIns="0" rIns="0" bIns="0">
            <a:spAutoFit/>
          </a:bodyPr>
          <a:lstStyle/>
          <a:p>
            <a:pPr>
              <a:spcAft>
                <a:spcPts val="800"/>
              </a:spcAft>
              <a:defRPr sz="1700" b="1">
                <a:solidFill>
                  <a:srgbClr val="1479B8"/>
                </a:solidFill>
                <a:latin typeface="Aptos"/>
              </a:defRPr>
            </a:pPr>
            <a:r>
              <a:t>Mean debt-to-revenue: 27.5% vs 32.4%</a:t>
            </a:r>
          </a:p>
          <a:p>
            <a:pPr>
              <a:spcAft>
                <a:spcPts val="800"/>
              </a:spcAft>
              <a:defRPr sz="1700" b="1">
                <a:solidFill>
                  <a:srgbClr val="1479B8"/>
                </a:solidFill>
                <a:latin typeface="Aptos"/>
              </a:defRPr>
            </a:pPr>
            <a:r>
              <a:t>Welch t-test: p &lt; 0.001</a:t>
            </a:r>
          </a:p>
        </p:txBody>
      </p:sp>
      <p:sp>
        <p:nvSpPr>
          <p:cNvPr id="12" name="TextBox 11"/>
          <p:cNvSpPr txBox="1"/>
          <p:nvPr/>
        </p:nvSpPr>
        <p:spPr>
          <a:xfrm>
            <a:off x="777240" y="6053328"/>
            <a:ext cx="10789920" cy="274320"/>
          </a:xfrm>
          <a:prstGeom prst="rect">
            <a:avLst/>
          </a:prstGeom>
          <a:noFill/>
        </p:spPr>
        <p:txBody>
          <a:bodyPr wrap="square" lIns="0" tIns="0" rIns="0" bIns="0">
            <a:spAutoFit/>
          </a:bodyPr>
          <a:lstStyle/>
          <a:p>
            <a:pPr>
              <a:spcAft>
                <a:spcPts val="800"/>
              </a:spcAft>
              <a:defRPr sz="1300" b="0">
                <a:solidFill>
                  <a:srgbClr val="64748B"/>
                </a:solidFill>
                <a:latin typeface="Aptos"/>
              </a:defRPr>
            </a:pPr>
            <a:r>
              <a:t>CI  •  Welch t-test  •  Chi-square  •  Correlation  •  Regression preview     |     Association ≠ causation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Turning Analysis into Interactive Decision Support</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Interactive filters: Branch × Business Sector</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pp. 13–17</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12</a:t>
            </a:r>
          </a:p>
        </p:txBody>
      </p:sp>
      <p:pic>
        <p:nvPicPr>
          <p:cNvPr id="8" name="Picture 7" descr="p1_0.png"/>
          <p:cNvPicPr>
            <a:picLocks noChangeAspect="1"/>
          </p:cNvPicPr>
          <p:nvPr/>
        </p:nvPicPr>
        <p:blipFill>
          <a:blip r:embed="rId3"/>
          <a:stretch>
            <a:fillRect/>
          </a:stretch>
        </p:blipFill>
        <p:spPr>
          <a:xfrm>
            <a:off x="1408820" y="1600200"/>
            <a:ext cx="5731998" cy="4023360"/>
          </a:xfrm>
          <a:prstGeom prst="rect">
            <a:avLst/>
          </a:prstGeom>
        </p:spPr>
      </p:pic>
      <p:pic>
        <p:nvPicPr>
          <p:cNvPr id="9" name="Picture 8" descr="crop_7_0_45.png"/>
          <p:cNvPicPr>
            <a:picLocks noChangeAspect="1"/>
          </p:cNvPicPr>
          <p:nvPr/>
        </p:nvPicPr>
        <p:blipFill>
          <a:blip r:embed="rId4"/>
          <a:stretch>
            <a:fillRect/>
          </a:stretch>
        </p:blipFill>
        <p:spPr>
          <a:xfrm>
            <a:off x="9080961" y="1645920"/>
            <a:ext cx="1497676" cy="2148840"/>
          </a:xfrm>
          <a:prstGeom prst="rect">
            <a:avLst/>
          </a:prstGeom>
        </p:spPr>
      </p:pic>
      <p:sp>
        <p:nvSpPr>
          <p:cNvPr id="10" name="TextBox 9"/>
          <p:cNvSpPr txBox="1"/>
          <p:nvPr/>
        </p:nvSpPr>
        <p:spPr>
          <a:xfrm>
            <a:off x="8229600" y="4023360"/>
            <a:ext cx="3291840" cy="365760"/>
          </a:xfrm>
          <a:prstGeom prst="rect">
            <a:avLst/>
          </a:prstGeom>
          <a:noFill/>
        </p:spPr>
        <p:txBody>
          <a:bodyPr wrap="square" lIns="0" tIns="0" rIns="0" bIns="0">
            <a:spAutoFit/>
          </a:bodyPr>
          <a:lstStyle/>
          <a:p>
            <a:pPr>
              <a:spcAft>
                <a:spcPts val="800"/>
              </a:spcAft>
              <a:defRPr sz="1800" b="1">
                <a:solidFill>
                  <a:srgbClr val="0B1F3A"/>
                </a:solidFill>
                <a:latin typeface="Aptos"/>
              </a:defRPr>
            </a:pPr>
            <a:r>
              <a:t>Four dashboard sections</a:t>
            </a:r>
          </a:p>
        </p:txBody>
      </p:sp>
      <p:sp>
        <p:nvSpPr>
          <p:cNvPr id="11" name="TextBox 10"/>
          <p:cNvSpPr txBox="1"/>
          <p:nvPr/>
        </p:nvSpPr>
        <p:spPr>
          <a:xfrm>
            <a:off x="8229600" y="4526280"/>
            <a:ext cx="3291840" cy="1371600"/>
          </a:xfrm>
          <a:prstGeom prst="rect">
            <a:avLst/>
          </a:prstGeom>
          <a:noFill/>
        </p:spPr>
        <p:txBody>
          <a:bodyPr wrap="square" lIns="0" tIns="0" rIns="0" bIns="0">
            <a:spAutoFit/>
          </a:bodyPr>
          <a:lstStyle/>
          <a:p>
            <a:pPr>
              <a:spcAft>
                <a:spcPts val="800"/>
              </a:spcAft>
              <a:defRPr sz="1600" b="0">
                <a:solidFill>
                  <a:srgbClr val="20252B"/>
                </a:solidFill>
                <a:latin typeface="Aptos"/>
              </a:defRPr>
            </a:pPr>
            <a:r>
              <a:t>Executive Overview</a:t>
            </a:r>
          </a:p>
          <a:p>
            <a:pPr>
              <a:spcAft>
                <a:spcPts val="800"/>
              </a:spcAft>
              <a:defRPr sz="1600" b="0">
                <a:solidFill>
                  <a:srgbClr val="20252B"/>
                </a:solidFill>
                <a:latin typeface="Aptos"/>
              </a:defRPr>
            </a:pPr>
            <a:r>
              <a:t>Applications</a:t>
            </a:r>
          </a:p>
          <a:p>
            <a:pPr>
              <a:spcAft>
                <a:spcPts val="800"/>
              </a:spcAft>
              <a:defRPr sz="1600" b="0">
                <a:solidFill>
                  <a:srgbClr val="20252B"/>
                </a:solidFill>
                <a:latin typeface="Aptos"/>
              </a:defRPr>
            </a:pPr>
            <a:r>
              <a:t>Processing &amp; TAT</a:t>
            </a:r>
          </a:p>
          <a:p>
            <a:pPr>
              <a:spcAft>
                <a:spcPts val="800"/>
              </a:spcAft>
              <a:defRPr sz="1600" b="0">
                <a:solidFill>
                  <a:srgbClr val="20252B"/>
                </a:solidFill>
                <a:latin typeface="Aptos"/>
              </a:defRPr>
            </a:pPr>
            <a:r>
              <a:t>Portfolio Risk</a:t>
            </a:r>
          </a:p>
        </p:txBody>
      </p:sp>
      <p:sp>
        <p:nvSpPr>
          <p:cNvPr id="12" name="Rectangle 11"/>
          <p:cNvSpPr/>
          <p:nvPr/>
        </p:nvSpPr>
        <p:spPr>
          <a:xfrm>
            <a:off x="731520" y="5806440"/>
            <a:ext cx="7040880" cy="38404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5870448"/>
            <a:ext cx="6812280" cy="274320"/>
          </a:xfrm>
          <a:prstGeom prst="rect">
            <a:avLst/>
          </a:prstGeom>
          <a:noFill/>
        </p:spPr>
        <p:txBody>
          <a:bodyPr wrap="square" lIns="0" tIns="0" rIns="0" bIns="0">
            <a:spAutoFit/>
          </a:bodyPr>
          <a:lstStyle/>
          <a:p>
            <a:pPr>
              <a:spcAft>
                <a:spcPts val="800"/>
              </a:spcAft>
              <a:defRPr sz="1600" b="1">
                <a:solidFill>
                  <a:srgbClr val="1479B8"/>
                </a:solidFill>
                <a:latin typeface="Aptos"/>
              </a:defRPr>
            </a:pPr>
            <a:r>
              <a:t>User selection → Reactive data → KPIs → Charts &amp; tables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From Analytics to Action</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Use evidence to prioritize investigation, without inventing causal explanations.</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pp. 18–19; actions framed as investigations</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13</a:t>
            </a:r>
          </a:p>
        </p:txBody>
      </p:sp>
      <p:sp>
        <p:nvSpPr>
          <p:cNvPr id="8" name="TextBox 7"/>
          <p:cNvSpPr txBox="1"/>
          <p:nvPr/>
        </p:nvSpPr>
        <p:spPr>
          <a:xfrm>
            <a:off x="868680" y="1600200"/>
            <a:ext cx="4754880" cy="365760"/>
          </a:xfrm>
          <a:prstGeom prst="rect">
            <a:avLst/>
          </a:prstGeom>
          <a:noFill/>
        </p:spPr>
        <p:txBody>
          <a:bodyPr wrap="square" lIns="0" tIns="0" rIns="0" bIns="0">
            <a:spAutoFit/>
          </a:bodyPr>
          <a:lstStyle/>
          <a:p>
            <a:pPr>
              <a:spcAft>
                <a:spcPts val="800"/>
              </a:spcAft>
              <a:defRPr sz="1400" b="1">
                <a:solidFill>
                  <a:srgbClr val="64748B"/>
                </a:solidFill>
                <a:latin typeface="Aptos"/>
              </a:defRPr>
            </a:pPr>
            <a:r>
              <a:t>FINDING</a:t>
            </a:r>
          </a:p>
        </p:txBody>
      </p:sp>
      <p:sp>
        <p:nvSpPr>
          <p:cNvPr id="9" name="TextBox 8"/>
          <p:cNvSpPr txBox="1"/>
          <p:nvPr/>
        </p:nvSpPr>
        <p:spPr>
          <a:xfrm>
            <a:off x="6309360" y="1600200"/>
            <a:ext cx="5120640" cy="365760"/>
          </a:xfrm>
          <a:prstGeom prst="rect">
            <a:avLst/>
          </a:prstGeom>
          <a:noFill/>
        </p:spPr>
        <p:txBody>
          <a:bodyPr wrap="square" lIns="0" tIns="0" rIns="0" bIns="0">
            <a:spAutoFit/>
          </a:bodyPr>
          <a:lstStyle/>
          <a:p>
            <a:pPr>
              <a:spcAft>
                <a:spcPts val="800"/>
              </a:spcAft>
              <a:defRPr sz="1400" b="1">
                <a:solidFill>
                  <a:srgbClr val="64748B"/>
                </a:solidFill>
                <a:latin typeface="Aptos"/>
              </a:defRPr>
            </a:pPr>
            <a:r>
              <a:t>RECOMMENDED INVESTIGATION / ACTION</a:t>
            </a:r>
          </a:p>
        </p:txBody>
      </p:sp>
      <p:sp>
        <p:nvSpPr>
          <p:cNvPr id="10" name="Rectangle 9"/>
          <p:cNvSpPr/>
          <p:nvPr/>
        </p:nvSpPr>
        <p:spPr>
          <a:xfrm>
            <a:off x="731520" y="2148840"/>
            <a:ext cx="10744200" cy="79552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295144"/>
            <a:ext cx="4846320" cy="530352"/>
          </a:xfrm>
          <a:prstGeom prst="rect">
            <a:avLst/>
          </a:prstGeom>
          <a:noFill/>
        </p:spPr>
        <p:txBody>
          <a:bodyPr wrap="square" lIns="0" tIns="0" rIns="0" bIns="0">
            <a:spAutoFit/>
          </a:bodyPr>
          <a:lstStyle/>
          <a:p>
            <a:pPr>
              <a:spcAft>
                <a:spcPts val="800"/>
              </a:spcAft>
              <a:defRPr sz="1800" b="1">
                <a:solidFill>
                  <a:srgbClr val="0B1F3A"/>
                </a:solidFill>
                <a:latin typeface="Aptos"/>
              </a:defRPr>
            </a:pPr>
            <a:r>
              <a:t>Credit Assessment is longest: 4.45 days</a:t>
            </a:r>
          </a:p>
        </p:txBody>
      </p:sp>
      <p:sp>
        <p:nvSpPr>
          <p:cNvPr id="12" name="TextBox 11"/>
          <p:cNvSpPr txBox="1"/>
          <p:nvPr/>
        </p:nvSpPr>
        <p:spPr>
          <a:xfrm>
            <a:off x="5806440" y="2286000"/>
            <a:ext cx="365760" cy="365760"/>
          </a:xfrm>
          <a:prstGeom prst="rect">
            <a:avLst/>
          </a:prstGeom>
          <a:noFill/>
        </p:spPr>
        <p:txBody>
          <a:bodyPr wrap="square" lIns="0" tIns="0" rIns="0" bIns="0">
            <a:spAutoFit/>
          </a:bodyPr>
          <a:lstStyle/>
          <a:p>
            <a:pPr>
              <a:spcAft>
                <a:spcPts val="800"/>
              </a:spcAft>
              <a:defRPr sz="2200" b="1">
                <a:solidFill>
                  <a:srgbClr val="00A6A6"/>
                </a:solidFill>
                <a:latin typeface="Aptos"/>
              </a:defRPr>
            </a:pPr>
            <a:r>
              <a:t>→</a:t>
            </a:r>
          </a:p>
        </p:txBody>
      </p:sp>
      <p:sp>
        <p:nvSpPr>
          <p:cNvPr id="13" name="TextBox 12"/>
          <p:cNvSpPr txBox="1"/>
          <p:nvPr/>
        </p:nvSpPr>
        <p:spPr>
          <a:xfrm>
            <a:off x="6355080" y="2276856"/>
            <a:ext cx="4892040" cy="594360"/>
          </a:xfrm>
          <a:prstGeom prst="rect">
            <a:avLst/>
          </a:prstGeom>
          <a:noFill/>
        </p:spPr>
        <p:txBody>
          <a:bodyPr wrap="square" lIns="0" tIns="0" rIns="0" bIns="0">
            <a:spAutoFit/>
          </a:bodyPr>
          <a:lstStyle/>
          <a:p>
            <a:pPr>
              <a:spcAft>
                <a:spcPts val="800"/>
              </a:spcAft>
              <a:defRPr sz="1700" b="0">
                <a:solidFill>
                  <a:srgbClr val="20252B"/>
                </a:solidFill>
                <a:latin typeface="Aptos"/>
              </a:defRPr>
            </a:pPr>
            <a:r>
              <a:t>Examine workload, queue size and branch-level delays.</a:t>
            </a:r>
          </a:p>
        </p:txBody>
      </p:sp>
      <p:sp>
        <p:nvSpPr>
          <p:cNvPr id="14" name="Rectangle 13"/>
          <p:cNvSpPr/>
          <p:nvPr/>
        </p:nvSpPr>
        <p:spPr>
          <a:xfrm>
            <a:off x="731520" y="3108960"/>
            <a:ext cx="10744200"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255264"/>
            <a:ext cx="4846320" cy="530352"/>
          </a:xfrm>
          <a:prstGeom prst="rect">
            <a:avLst/>
          </a:prstGeom>
          <a:noFill/>
        </p:spPr>
        <p:txBody>
          <a:bodyPr wrap="square" lIns="0" tIns="0" rIns="0" bIns="0">
            <a:spAutoFit/>
          </a:bodyPr>
          <a:lstStyle/>
          <a:p>
            <a:pPr>
              <a:spcAft>
                <a:spcPts val="800"/>
              </a:spcAft>
              <a:defRPr sz="1800" b="1">
                <a:solidFill>
                  <a:srgbClr val="0B1F3A"/>
                </a:solidFill>
                <a:latin typeface="Aptos"/>
              </a:defRPr>
            </a:pPr>
            <a:r>
              <a:t>PAR30 materially exceeds PAR90</a:t>
            </a:r>
          </a:p>
        </p:txBody>
      </p:sp>
      <p:sp>
        <p:nvSpPr>
          <p:cNvPr id="16" name="TextBox 15"/>
          <p:cNvSpPr txBox="1"/>
          <p:nvPr/>
        </p:nvSpPr>
        <p:spPr>
          <a:xfrm>
            <a:off x="5806440" y="3246120"/>
            <a:ext cx="365760" cy="365760"/>
          </a:xfrm>
          <a:prstGeom prst="rect">
            <a:avLst/>
          </a:prstGeom>
          <a:noFill/>
        </p:spPr>
        <p:txBody>
          <a:bodyPr wrap="square" lIns="0" tIns="0" rIns="0" bIns="0">
            <a:spAutoFit/>
          </a:bodyPr>
          <a:lstStyle/>
          <a:p>
            <a:pPr>
              <a:spcAft>
                <a:spcPts val="800"/>
              </a:spcAft>
              <a:defRPr sz="2200" b="1">
                <a:solidFill>
                  <a:srgbClr val="00A6A6"/>
                </a:solidFill>
                <a:latin typeface="Aptos"/>
              </a:defRPr>
            </a:pPr>
            <a:r>
              <a:t>→</a:t>
            </a:r>
          </a:p>
        </p:txBody>
      </p:sp>
      <p:sp>
        <p:nvSpPr>
          <p:cNvPr id="17" name="TextBox 16"/>
          <p:cNvSpPr txBox="1"/>
          <p:nvPr/>
        </p:nvSpPr>
        <p:spPr>
          <a:xfrm>
            <a:off x="6355080" y="3236976"/>
            <a:ext cx="4892040" cy="594360"/>
          </a:xfrm>
          <a:prstGeom prst="rect">
            <a:avLst/>
          </a:prstGeom>
          <a:noFill/>
        </p:spPr>
        <p:txBody>
          <a:bodyPr wrap="square" lIns="0" tIns="0" rIns="0" bIns="0">
            <a:spAutoFit/>
          </a:bodyPr>
          <a:lstStyle/>
          <a:p>
            <a:pPr>
              <a:spcAft>
                <a:spcPts val="800"/>
              </a:spcAft>
              <a:defRPr sz="1700" b="0">
                <a:solidFill>
                  <a:srgbClr val="20252B"/>
                </a:solidFill>
                <a:latin typeface="Aptos"/>
              </a:defRPr>
            </a:pPr>
            <a:r>
              <a:t>Track DPD migration: cure versus deterioration.</a:t>
            </a:r>
          </a:p>
        </p:txBody>
      </p:sp>
      <p:sp>
        <p:nvSpPr>
          <p:cNvPr id="18" name="Rectangle 17"/>
          <p:cNvSpPr/>
          <p:nvPr/>
        </p:nvSpPr>
        <p:spPr>
          <a:xfrm>
            <a:off x="731520" y="4069080"/>
            <a:ext cx="10744200" cy="79552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215384"/>
            <a:ext cx="4846320" cy="530352"/>
          </a:xfrm>
          <a:prstGeom prst="rect">
            <a:avLst/>
          </a:prstGeom>
          <a:noFill/>
        </p:spPr>
        <p:txBody>
          <a:bodyPr wrap="square" lIns="0" tIns="0" rIns="0" bIns="0">
            <a:spAutoFit/>
          </a:bodyPr>
          <a:lstStyle/>
          <a:p>
            <a:pPr>
              <a:spcAft>
                <a:spcPts val="800"/>
              </a:spcAft>
              <a:defRPr sz="1800" b="1">
                <a:solidFill>
                  <a:srgbClr val="0B1F3A"/>
                </a:solidFill>
                <a:latin typeface="Aptos"/>
              </a:defRPr>
            </a:pPr>
            <a:r>
              <a:t>PAR30 differs across sectors</a:t>
            </a:r>
          </a:p>
        </p:txBody>
      </p:sp>
      <p:sp>
        <p:nvSpPr>
          <p:cNvPr id="20" name="TextBox 19"/>
          <p:cNvSpPr txBox="1"/>
          <p:nvPr/>
        </p:nvSpPr>
        <p:spPr>
          <a:xfrm>
            <a:off x="5806440" y="4206240"/>
            <a:ext cx="365760" cy="365760"/>
          </a:xfrm>
          <a:prstGeom prst="rect">
            <a:avLst/>
          </a:prstGeom>
          <a:noFill/>
        </p:spPr>
        <p:txBody>
          <a:bodyPr wrap="square" lIns="0" tIns="0" rIns="0" bIns="0">
            <a:spAutoFit/>
          </a:bodyPr>
          <a:lstStyle/>
          <a:p>
            <a:pPr>
              <a:spcAft>
                <a:spcPts val="800"/>
              </a:spcAft>
              <a:defRPr sz="2200" b="1">
                <a:solidFill>
                  <a:srgbClr val="00A6A6"/>
                </a:solidFill>
                <a:latin typeface="Aptos"/>
              </a:defRPr>
            </a:pPr>
            <a:r>
              <a:t>→</a:t>
            </a:r>
          </a:p>
        </p:txBody>
      </p:sp>
      <p:sp>
        <p:nvSpPr>
          <p:cNvPr id="21" name="TextBox 20"/>
          <p:cNvSpPr txBox="1"/>
          <p:nvPr/>
        </p:nvSpPr>
        <p:spPr>
          <a:xfrm>
            <a:off x="6355080" y="4197096"/>
            <a:ext cx="4892040" cy="594360"/>
          </a:xfrm>
          <a:prstGeom prst="rect">
            <a:avLst/>
          </a:prstGeom>
          <a:noFill/>
        </p:spPr>
        <p:txBody>
          <a:bodyPr wrap="square" lIns="0" tIns="0" rIns="0" bIns="0">
            <a:spAutoFit/>
          </a:bodyPr>
          <a:lstStyle/>
          <a:p>
            <a:pPr>
              <a:spcAft>
                <a:spcPts val="800"/>
              </a:spcAft>
              <a:defRPr sz="1700" b="0">
                <a:solidFill>
                  <a:srgbClr val="20252B"/>
                </a:solidFill>
                <a:latin typeface="Aptos"/>
              </a:defRPr>
            </a:pPr>
            <a:r>
              <a:t>Compare rates with exposure and borrower concentration.</a:t>
            </a:r>
          </a:p>
        </p:txBody>
      </p:sp>
      <p:sp>
        <p:nvSpPr>
          <p:cNvPr id="22" name="Rectangle 21"/>
          <p:cNvSpPr/>
          <p:nvPr/>
        </p:nvSpPr>
        <p:spPr>
          <a:xfrm>
            <a:off x="731520" y="5029200"/>
            <a:ext cx="10744200"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5175504"/>
            <a:ext cx="4846320" cy="530352"/>
          </a:xfrm>
          <a:prstGeom prst="rect">
            <a:avLst/>
          </a:prstGeom>
          <a:noFill/>
        </p:spPr>
        <p:txBody>
          <a:bodyPr wrap="square" lIns="0" tIns="0" rIns="0" bIns="0">
            <a:spAutoFit/>
          </a:bodyPr>
          <a:lstStyle/>
          <a:p>
            <a:pPr>
              <a:spcAft>
                <a:spcPts val="800"/>
              </a:spcAft>
              <a:defRPr sz="1800" b="1">
                <a:solidFill>
                  <a:srgbClr val="0B1F3A"/>
                </a:solidFill>
                <a:latin typeface="Aptos"/>
              </a:defRPr>
            </a:pPr>
            <a:r>
              <a:t>Filters reveal segment-level differences</a:t>
            </a:r>
          </a:p>
        </p:txBody>
      </p:sp>
      <p:sp>
        <p:nvSpPr>
          <p:cNvPr id="24" name="TextBox 23"/>
          <p:cNvSpPr txBox="1"/>
          <p:nvPr/>
        </p:nvSpPr>
        <p:spPr>
          <a:xfrm>
            <a:off x="5806440" y="5166360"/>
            <a:ext cx="365760" cy="365760"/>
          </a:xfrm>
          <a:prstGeom prst="rect">
            <a:avLst/>
          </a:prstGeom>
          <a:noFill/>
        </p:spPr>
        <p:txBody>
          <a:bodyPr wrap="square" lIns="0" tIns="0" rIns="0" bIns="0">
            <a:spAutoFit/>
          </a:bodyPr>
          <a:lstStyle/>
          <a:p>
            <a:pPr>
              <a:spcAft>
                <a:spcPts val="800"/>
              </a:spcAft>
              <a:defRPr sz="2200" b="1">
                <a:solidFill>
                  <a:srgbClr val="00A6A6"/>
                </a:solidFill>
                <a:latin typeface="Aptos"/>
              </a:defRPr>
            </a:pPr>
            <a:r>
              <a:t>→</a:t>
            </a:r>
          </a:p>
        </p:txBody>
      </p:sp>
      <p:sp>
        <p:nvSpPr>
          <p:cNvPr id="25" name="TextBox 24"/>
          <p:cNvSpPr txBox="1"/>
          <p:nvPr/>
        </p:nvSpPr>
        <p:spPr>
          <a:xfrm>
            <a:off x="6355080" y="5157216"/>
            <a:ext cx="4892040" cy="594360"/>
          </a:xfrm>
          <a:prstGeom prst="rect">
            <a:avLst/>
          </a:prstGeom>
          <a:noFill/>
        </p:spPr>
        <p:txBody>
          <a:bodyPr wrap="square" lIns="0" tIns="0" rIns="0" bIns="0">
            <a:spAutoFit/>
          </a:bodyPr>
          <a:lstStyle/>
          <a:p>
            <a:pPr>
              <a:spcAft>
                <a:spcPts val="800"/>
              </a:spcAft>
              <a:defRPr sz="1700" b="0">
                <a:solidFill>
                  <a:srgbClr val="20252B"/>
                </a:solidFill>
                <a:latin typeface="Aptos"/>
              </a:defRPr>
            </a:pPr>
            <a:r>
              <a:t>Use drill-down monitoring alongside portfolio averages.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93192"/>
            <a:ext cx="91440" cy="43891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47472"/>
            <a:ext cx="10972800" cy="502920"/>
          </a:xfrm>
          <a:prstGeom prst="rect">
            <a:avLst/>
          </a:prstGeom>
          <a:noFill/>
        </p:spPr>
        <p:txBody>
          <a:bodyPr wrap="square" lIns="0" tIns="0" rIns="0" bIns="0">
            <a:spAutoFit/>
          </a:bodyPr>
          <a:lstStyle/>
          <a:p>
            <a:pPr>
              <a:spcAft>
                <a:spcPts val="800"/>
              </a:spcAft>
              <a:defRPr sz="2800" b="1">
                <a:solidFill>
                  <a:srgbClr val="0B1F3A"/>
                </a:solidFill>
                <a:latin typeface="Aptos"/>
              </a:defRPr>
            </a:pPr>
            <a:r>
              <a:t>What This Project Demonstrates</a:t>
            </a:r>
          </a:p>
        </p:txBody>
      </p:sp>
      <p:sp>
        <p:nvSpPr>
          <p:cNvPr id="5" name="TextBox 4"/>
          <p:cNvSpPr txBox="1"/>
          <p:nvPr/>
        </p:nvSpPr>
        <p:spPr>
          <a:xfrm>
            <a:off x="713232" y="941832"/>
            <a:ext cx="10789920" cy="502920"/>
          </a:xfrm>
          <a:prstGeom prst="rect">
            <a:avLst/>
          </a:prstGeom>
          <a:noFill/>
        </p:spPr>
        <p:txBody>
          <a:bodyPr wrap="square" lIns="0" tIns="0" rIns="0" bIns="0">
            <a:spAutoFit/>
          </a:bodyPr>
          <a:lstStyle/>
          <a:p>
            <a:pPr>
              <a:spcAft>
                <a:spcPts val="800"/>
              </a:spcAft>
              <a:defRPr sz="1500" b="0">
                <a:solidFill>
                  <a:srgbClr val="64748B"/>
                </a:solidFill>
                <a:latin typeface="Aptos"/>
              </a:defRPr>
            </a:pPr>
            <a:r>
              <a:t>Database discipline, analytical reasoning, credit knowledge and product delivery.</a:t>
            </a:r>
          </a:p>
        </p:txBody>
      </p:sp>
      <p:sp>
        <p:nvSpPr>
          <p:cNvPr id="6" name="TextBox 5"/>
          <p:cNvSpPr txBox="1"/>
          <p:nvPr/>
        </p:nvSpPr>
        <p:spPr>
          <a:xfrm>
            <a:off x="548640" y="6473952"/>
            <a:ext cx="10789920" cy="219456"/>
          </a:xfrm>
          <a:prstGeom prst="rect">
            <a:avLst/>
          </a:prstGeom>
          <a:noFill/>
        </p:spPr>
        <p:txBody>
          <a:bodyPr wrap="square" lIns="0" tIns="0" rIns="0" bIns="0">
            <a:spAutoFit/>
          </a:bodyPr>
          <a:lstStyle/>
          <a:p>
            <a:pPr>
              <a:spcAft>
                <a:spcPts val="800"/>
              </a:spcAft>
              <a:defRPr sz="900" b="0">
                <a:solidFill>
                  <a:srgbClr val="64748B"/>
                </a:solidFill>
                <a:latin typeface="Aptos"/>
              </a:defRPr>
            </a:pPr>
            <a:r>
              <a:t>SYNTHETIC SME PORTFOLIO  •  Report pp. 19–20</a:t>
            </a:r>
          </a:p>
        </p:txBody>
      </p:sp>
      <p:sp>
        <p:nvSpPr>
          <p:cNvPr id="7" name="TextBox 6"/>
          <p:cNvSpPr txBox="1"/>
          <p:nvPr/>
        </p:nvSpPr>
        <p:spPr>
          <a:xfrm>
            <a:off x="11155680" y="6419088"/>
            <a:ext cx="502920" cy="274320"/>
          </a:xfrm>
          <a:prstGeom prst="rect">
            <a:avLst/>
          </a:prstGeom>
          <a:noFill/>
        </p:spPr>
        <p:txBody>
          <a:bodyPr wrap="square" lIns="0" tIns="0" rIns="0" bIns="0">
            <a:spAutoFit/>
          </a:bodyPr>
          <a:lstStyle/>
          <a:p>
            <a:pPr>
              <a:spcAft>
                <a:spcPts val="800"/>
              </a:spcAft>
              <a:defRPr sz="1100" b="1">
                <a:solidFill>
                  <a:srgbClr val="0B1F3A"/>
                </a:solidFill>
                <a:latin typeface="Aptos"/>
              </a:defRPr>
            </a:pPr>
            <a:r>
              <a:t>14</a:t>
            </a:r>
          </a:p>
        </p:txBody>
      </p:sp>
      <p:sp>
        <p:nvSpPr>
          <p:cNvPr id="8" name="Rounded Rectangle 7"/>
          <p:cNvSpPr/>
          <p:nvPr/>
        </p:nvSpPr>
        <p:spPr>
          <a:xfrm>
            <a:off x="731520" y="1691640"/>
            <a:ext cx="2560320" cy="201168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691640"/>
            <a:ext cx="50292" cy="2011680"/>
          </a:xfrm>
          <a:prstGeom prst="rect">
            <a:avLst/>
          </a:prstGeom>
          <a:solidFill>
            <a:srgbClr val="1479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1819656"/>
            <a:ext cx="2240279" cy="347472"/>
          </a:xfrm>
          <a:prstGeom prst="rect">
            <a:avLst/>
          </a:prstGeom>
          <a:noFill/>
        </p:spPr>
        <p:txBody>
          <a:bodyPr wrap="square" lIns="0" tIns="0" rIns="0" bIns="0">
            <a:spAutoFit/>
          </a:bodyPr>
          <a:lstStyle/>
          <a:p>
            <a:pPr>
              <a:spcAft>
                <a:spcPts val="800"/>
              </a:spcAft>
              <a:defRPr sz="1900" b="1">
                <a:solidFill>
                  <a:srgbClr val="1479B8"/>
                </a:solidFill>
                <a:latin typeface="Aptos"/>
              </a:defRPr>
            </a:pPr>
            <a:r>
              <a:t>DATA</a:t>
            </a:r>
          </a:p>
        </p:txBody>
      </p:sp>
      <p:sp>
        <p:nvSpPr>
          <p:cNvPr id="11" name="TextBox 10"/>
          <p:cNvSpPr txBox="1"/>
          <p:nvPr/>
        </p:nvSpPr>
        <p:spPr>
          <a:xfrm>
            <a:off x="896112" y="2212848"/>
            <a:ext cx="2240279" cy="1481328"/>
          </a:xfrm>
          <a:prstGeom prst="rect">
            <a:avLst/>
          </a:prstGeom>
          <a:noFill/>
        </p:spPr>
        <p:txBody>
          <a:bodyPr wrap="square" lIns="0" tIns="0" rIns="0" bIns="0">
            <a:spAutoFit/>
          </a:bodyPr>
          <a:lstStyle/>
          <a:p>
            <a:pPr>
              <a:spcAft>
                <a:spcPts val="800"/>
              </a:spcAft>
              <a:defRPr sz="1500" b="0">
                <a:solidFill>
                  <a:srgbClr val="20252B"/>
                </a:solidFill>
                <a:latin typeface="Aptos"/>
              </a:defRPr>
            </a:pPr>
            <a:r>
              <a:t>PostgreSQL</a:t>
            </a:r>
          </a:p>
          <a:p>
            <a:pPr>
              <a:spcAft>
                <a:spcPts val="800"/>
              </a:spcAft>
              <a:defRPr sz="1500" b="0">
                <a:solidFill>
                  <a:srgbClr val="20252B"/>
                </a:solidFill>
                <a:latin typeface="Aptos"/>
              </a:defRPr>
            </a:pPr>
            <a:r>
              <a:t>Relational modeling</a:t>
            </a:r>
          </a:p>
          <a:p>
            <a:pPr>
              <a:spcAft>
                <a:spcPts val="800"/>
              </a:spcAft>
              <a:defRPr sz="1500" b="0">
                <a:solidFill>
                  <a:srgbClr val="20252B"/>
                </a:solidFill>
                <a:latin typeface="Aptos"/>
              </a:defRPr>
            </a:pPr>
            <a:r>
              <a:t>Data quality</a:t>
            </a:r>
          </a:p>
        </p:txBody>
      </p:sp>
      <p:sp>
        <p:nvSpPr>
          <p:cNvPr id="12" name="Rounded Rectangle 11"/>
          <p:cNvSpPr/>
          <p:nvPr/>
        </p:nvSpPr>
        <p:spPr>
          <a:xfrm>
            <a:off x="3520439" y="1691640"/>
            <a:ext cx="2560320" cy="201168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20439" y="1691640"/>
            <a:ext cx="50292" cy="201168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85031" y="1819656"/>
            <a:ext cx="2240279" cy="347472"/>
          </a:xfrm>
          <a:prstGeom prst="rect">
            <a:avLst/>
          </a:prstGeom>
          <a:noFill/>
        </p:spPr>
        <p:txBody>
          <a:bodyPr wrap="square" lIns="0" tIns="0" rIns="0" bIns="0">
            <a:spAutoFit/>
          </a:bodyPr>
          <a:lstStyle/>
          <a:p>
            <a:pPr>
              <a:spcAft>
                <a:spcPts val="800"/>
              </a:spcAft>
              <a:defRPr sz="1900" b="1">
                <a:solidFill>
                  <a:srgbClr val="00A6A6"/>
                </a:solidFill>
                <a:latin typeface="Aptos"/>
              </a:defRPr>
            </a:pPr>
            <a:r>
              <a:t>ANALYTICS</a:t>
            </a:r>
          </a:p>
        </p:txBody>
      </p:sp>
      <p:sp>
        <p:nvSpPr>
          <p:cNvPr id="15" name="TextBox 14"/>
          <p:cNvSpPr txBox="1"/>
          <p:nvPr/>
        </p:nvSpPr>
        <p:spPr>
          <a:xfrm>
            <a:off x="3685031" y="2212848"/>
            <a:ext cx="2240279" cy="1481328"/>
          </a:xfrm>
          <a:prstGeom prst="rect">
            <a:avLst/>
          </a:prstGeom>
          <a:noFill/>
        </p:spPr>
        <p:txBody>
          <a:bodyPr wrap="square" lIns="0" tIns="0" rIns="0" bIns="0">
            <a:spAutoFit/>
          </a:bodyPr>
          <a:lstStyle/>
          <a:p>
            <a:pPr>
              <a:spcAft>
                <a:spcPts val="800"/>
              </a:spcAft>
              <a:defRPr sz="1500" b="0">
                <a:solidFill>
                  <a:srgbClr val="20252B"/>
                </a:solidFill>
                <a:latin typeface="Aptos"/>
              </a:defRPr>
            </a:pPr>
            <a:r>
              <a:t>SQL &amp; R</a:t>
            </a:r>
          </a:p>
          <a:p>
            <a:pPr>
              <a:spcAft>
                <a:spcPts val="800"/>
              </a:spcAft>
              <a:defRPr sz="1500" b="0">
                <a:solidFill>
                  <a:srgbClr val="20252B"/>
                </a:solidFill>
                <a:latin typeface="Aptos"/>
              </a:defRPr>
            </a:pPr>
            <a:r>
              <a:t>EDA</a:t>
            </a:r>
          </a:p>
          <a:p>
            <a:pPr>
              <a:spcAft>
                <a:spcPts val="800"/>
              </a:spcAft>
              <a:defRPr sz="1500" b="0">
                <a:solidFill>
                  <a:srgbClr val="20252B"/>
                </a:solidFill>
                <a:latin typeface="Aptos"/>
              </a:defRPr>
            </a:pPr>
            <a:r>
              <a:t>Statistics</a:t>
            </a:r>
          </a:p>
        </p:txBody>
      </p:sp>
      <p:sp>
        <p:nvSpPr>
          <p:cNvPr id="16" name="Rounded Rectangle 15"/>
          <p:cNvSpPr/>
          <p:nvPr/>
        </p:nvSpPr>
        <p:spPr>
          <a:xfrm>
            <a:off x="6309359" y="1691640"/>
            <a:ext cx="2560320" cy="201168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59" y="1691640"/>
            <a:ext cx="50292" cy="2011680"/>
          </a:xfrm>
          <a:prstGeom prst="rect">
            <a:avLst/>
          </a:prstGeom>
          <a:solidFill>
            <a:srgbClr val="F3A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3951" y="1819656"/>
            <a:ext cx="2240279" cy="347472"/>
          </a:xfrm>
          <a:prstGeom prst="rect">
            <a:avLst/>
          </a:prstGeom>
          <a:noFill/>
        </p:spPr>
        <p:txBody>
          <a:bodyPr wrap="square" lIns="0" tIns="0" rIns="0" bIns="0">
            <a:spAutoFit/>
          </a:bodyPr>
          <a:lstStyle/>
          <a:p>
            <a:pPr>
              <a:spcAft>
                <a:spcPts val="800"/>
              </a:spcAft>
              <a:defRPr sz="1900" b="1">
                <a:solidFill>
                  <a:srgbClr val="F3A51B"/>
                </a:solidFill>
                <a:latin typeface="Aptos"/>
              </a:defRPr>
            </a:pPr>
            <a:r>
              <a:t>CREDIT DOMAIN</a:t>
            </a:r>
          </a:p>
        </p:txBody>
      </p:sp>
      <p:sp>
        <p:nvSpPr>
          <p:cNvPr id="19" name="TextBox 18"/>
          <p:cNvSpPr txBox="1"/>
          <p:nvPr/>
        </p:nvSpPr>
        <p:spPr>
          <a:xfrm>
            <a:off x="6473951" y="2212848"/>
            <a:ext cx="2240279" cy="1481328"/>
          </a:xfrm>
          <a:prstGeom prst="rect">
            <a:avLst/>
          </a:prstGeom>
          <a:noFill/>
        </p:spPr>
        <p:txBody>
          <a:bodyPr wrap="square" lIns="0" tIns="0" rIns="0" bIns="0">
            <a:spAutoFit/>
          </a:bodyPr>
          <a:lstStyle/>
          <a:p>
            <a:pPr>
              <a:spcAft>
                <a:spcPts val="800"/>
              </a:spcAft>
              <a:defRPr sz="1500" b="0">
                <a:solidFill>
                  <a:srgbClr val="20252B"/>
                </a:solidFill>
                <a:latin typeface="Aptos"/>
              </a:defRPr>
            </a:pPr>
            <a:r>
              <a:t>TAT &amp; DPD</a:t>
            </a:r>
          </a:p>
          <a:p>
            <a:pPr>
              <a:spcAft>
                <a:spcPts val="800"/>
              </a:spcAft>
              <a:defRPr sz="1500" b="0">
                <a:solidFill>
                  <a:srgbClr val="20252B"/>
                </a:solidFill>
                <a:latin typeface="Aptos"/>
              </a:defRPr>
            </a:pPr>
            <a:r>
              <a:t>PAR30 / PAR90</a:t>
            </a:r>
          </a:p>
          <a:p>
            <a:pPr>
              <a:spcAft>
                <a:spcPts val="800"/>
              </a:spcAft>
              <a:defRPr sz="1500" b="0">
                <a:solidFill>
                  <a:srgbClr val="20252B"/>
                </a:solidFill>
                <a:latin typeface="Aptos"/>
              </a:defRPr>
            </a:pPr>
            <a:r>
              <a:t>Exposure</a:t>
            </a:r>
          </a:p>
        </p:txBody>
      </p:sp>
      <p:sp>
        <p:nvSpPr>
          <p:cNvPr id="20" name="Rounded Rectangle 19"/>
          <p:cNvSpPr/>
          <p:nvPr/>
        </p:nvSpPr>
        <p:spPr>
          <a:xfrm>
            <a:off x="9098280" y="1691640"/>
            <a:ext cx="2560320" cy="201168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98280" y="1691640"/>
            <a:ext cx="50292" cy="2011680"/>
          </a:xfrm>
          <a:prstGeom prst="rect">
            <a:avLst/>
          </a:prstGeom>
          <a:solidFill>
            <a:srgbClr val="13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62872" y="1819656"/>
            <a:ext cx="2240279" cy="347472"/>
          </a:xfrm>
          <a:prstGeom prst="rect">
            <a:avLst/>
          </a:prstGeom>
          <a:noFill/>
        </p:spPr>
        <p:txBody>
          <a:bodyPr wrap="square" lIns="0" tIns="0" rIns="0" bIns="0">
            <a:spAutoFit/>
          </a:bodyPr>
          <a:lstStyle/>
          <a:p>
            <a:pPr>
              <a:spcAft>
                <a:spcPts val="800"/>
              </a:spcAft>
              <a:defRPr sz="1900" b="1">
                <a:solidFill>
                  <a:srgbClr val="13A86B"/>
                </a:solidFill>
                <a:latin typeface="Aptos"/>
              </a:defRPr>
            </a:pPr>
            <a:r>
              <a:t>PRODUCT</a:t>
            </a:r>
          </a:p>
        </p:txBody>
      </p:sp>
      <p:sp>
        <p:nvSpPr>
          <p:cNvPr id="23" name="TextBox 22"/>
          <p:cNvSpPr txBox="1"/>
          <p:nvPr/>
        </p:nvSpPr>
        <p:spPr>
          <a:xfrm>
            <a:off x="9262872" y="2212848"/>
            <a:ext cx="2240279" cy="1481328"/>
          </a:xfrm>
          <a:prstGeom prst="rect">
            <a:avLst/>
          </a:prstGeom>
          <a:noFill/>
        </p:spPr>
        <p:txBody>
          <a:bodyPr wrap="square" lIns="0" tIns="0" rIns="0" bIns="0">
            <a:spAutoFit/>
          </a:bodyPr>
          <a:lstStyle/>
          <a:p>
            <a:pPr>
              <a:spcAft>
                <a:spcPts val="800"/>
              </a:spcAft>
              <a:defRPr sz="1500" b="0">
                <a:solidFill>
                  <a:srgbClr val="20252B"/>
                </a:solidFill>
                <a:latin typeface="Aptos"/>
              </a:defRPr>
            </a:pPr>
            <a:r>
              <a:t>R Shiny</a:t>
            </a:r>
          </a:p>
          <a:p>
            <a:pPr>
              <a:spcAft>
                <a:spcPts val="800"/>
              </a:spcAft>
              <a:defRPr sz="1500" b="0">
                <a:solidFill>
                  <a:srgbClr val="20252B"/>
                </a:solidFill>
                <a:latin typeface="Aptos"/>
              </a:defRPr>
            </a:pPr>
            <a:r>
              <a:t>Interactive dashboard</a:t>
            </a:r>
          </a:p>
          <a:p>
            <a:pPr>
              <a:spcAft>
                <a:spcPts val="800"/>
              </a:spcAft>
              <a:defRPr sz="1500" b="0">
                <a:solidFill>
                  <a:srgbClr val="20252B"/>
                </a:solidFill>
                <a:latin typeface="Aptos"/>
              </a:defRPr>
            </a:pPr>
            <a:r>
              <a:t>Decision support</a:t>
            </a:r>
          </a:p>
        </p:txBody>
      </p:sp>
      <p:sp>
        <p:nvSpPr>
          <p:cNvPr id="24" name="TextBox 23"/>
          <p:cNvSpPr txBox="1"/>
          <p:nvPr/>
        </p:nvSpPr>
        <p:spPr>
          <a:xfrm>
            <a:off x="822960" y="4114800"/>
            <a:ext cx="10652760" cy="1005840"/>
          </a:xfrm>
          <a:prstGeom prst="rect">
            <a:avLst/>
          </a:prstGeom>
          <a:noFill/>
        </p:spPr>
        <p:txBody>
          <a:bodyPr wrap="square" lIns="0" tIns="0" rIns="0" bIns="0">
            <a:spAutoFit/>
          </a:bodyPr>
          <a:lstStyle/>
          <a:p>
            <a:pPr>
              <a:spcAft>
                <a:spcPts val="800"/>
              </a:spcAft>
              <a:defRPr sz="2400" b="1">
                <a:solidFill>
                  <a:srgbClr val="0B1F3A"/>
                </a:solidFill>
                <a:latin typeface="Aptos"/>
              </a:defRPr>
            </a:pPr>
            <a:r>
              <a:t>A structured analytical workflow — from database design and statistical</a:t>
            </a:r>
          </a:p>
          <a:p>
            <a:pPr>
              <a:spcAft>
                <a:spcPts val="800"/>
              </a:spcAft>
              <a:defRPr sz="2400" b="1">
                <a:solidFill>
                  <a:srgbClr val="0B1F3A"/>
                </a:solidFill>
                <a:latin typeface="Aptos"/>
              </a:defRPr>
            </a:pPr>
            <a:r>
              <a:t>analysis to interactive management reporting.</a:t>
            </a:r>
          </a:p>
        </p:txBody>
      </p:sp>
      <p:sp>
        <p:nvSpPr>
          <p:cNvPr id="25" name="TextBox 24"/>
          <p:cNvSpPr txBox="1"/>
          <p:nvPr/>
        </p:nvSpPr>
        <p:spPr>
          <a:xfrm>
            <a:off x="822960" y="5486400"/>
            <a:ext cx="10607040" cy="320040"/>
          </a:xfrm>
          <a:prstGeom prst="rect">
            <a:avLst/>
          </a:prstGeom>
          <a:noFill/>
        </p:spPr>
        <p:txBody>
          <a:bodyPr wrap="square" lIns="0" tIns="0" rIns="0" bIns="0">
            <a:spAutoFit/>
          </a:bodyPr>
          <a:lstStyle/>
          <a:p>
            <a:pPr>
              <a:spcAft>
                <a:spcPts val="800"/>
              </a:spcAft>
              <a:defRPr sz="1600" b="1">
                <a:solidFill>
                  <a:srgbClr val="00A6A6"/>
                </a:solidFill>
                <a:latin typeface="Aptos"/>
              </a:defRPr>
            </a:pPr>
            <a:r>
              <a:t>FUTURE EXTENSION  ·  SME Credit Risk Scoring &amp; Default Prediction</a:t>
            </a:r>
          </a:p>
        </p:txBody>
      </p:sp>
      <p:sp>
        <p:nvSpPr>
          <p:cNvPr id="26" name="TextBox 25"/>
          <p:cNvSpPr txBox="1"/>
          <p:nvPr/>
        </p:nvSpPr>
        <p:spPr>
          <a:xfrm>
            <a:off x="822960" y="5925312"/>
            <a:ext cx="10698480" cy="320040"/>
          </a:xfrm>
          <a:prstGeom prst="rect">
            <a:avLst/>
          </a:prstGeom>
          <a:noFill/>
        </p:spPr>
        <p:txBody>
          <a:bodyPr wrap="square" lIns="0" tIns="0" rIns="0" bIns="0">
            <a:spAutoFit/>
          </a:bodyPr>
          <a:lstStyle/>
          <a:p>
            <a:pPr>
              <a:spcAft>
                <a:spcPts val="800"/>
              </a:spcAft>
              <a:defRPr sz="1300" b="0">
                <a:solidFill>
                  <a:srgbClr val="64748B"/>
                </a:solidFill>
                <a:latin typeface="Aptos"/>
              </a:defRPr>
            </a:pPr>
            <a:r>
              <a:t>Logistic regression  •  Probability of default  •  Scorecard  •  ROC-AUC  •  KS / Gini  •  Model monitoring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2531</Words>
  <Application>Microsoft Office PowerPoint</Application>
  <PresentationFormat>Widescreen</PresentationFormat>
  <Paragraphs>218</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generated using python-pptx</dc:description>
  <cp:lastModifiedBy>Maidul  Shanto</cp:lastModifiedBy>
  <cp:revision>2</cp:revision>
  <dcterms:created xsi:type="dcterms:W3CDTF">2013-01-27T09:14:16Z</dcterms:created>
  <dcterms:modified xsi:type="dcterms:W3CDTF">2026-10-05T14:33:06Z</dcterms:modified>
  <cp:category/>
</cp:coreProperties>
</file>